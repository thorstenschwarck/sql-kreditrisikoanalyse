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charts/chart4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71" r:id="rId3"/>
    <p:sldId id="257" r:id="rId4"/>
    <p:sldId id="274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2" r:id="rId14"/>
    <p:sldId id="268" r:id="rId15"/>
    <p:sldId id="275" r:id="rId16"/>
    <p:sldId id="276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76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61"/>
    <p:restoredTop sz="96273"/>
  </p:normalViewPr>
  <p:slideViewPr>
    <p:cSldViewPr snapToGrid="0" snapToObjects="1">
      <p:cViewPr varScale="1">
        <p:scale>
          <a:sx n="175" d="100"/>
          <a:sy n="175" d="100"/>
        </p:scale>
        <p:origin x="1240" y="168"/>
      </p:cViewPr>
      <p:guideLst>
        <p:guide orient="horz" pos="1076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-Arbeitsblat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-Arbeitsblat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-Arbeitsblat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-Arbeitsblat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Ausfallquote in %</c:v>
                </c:pt>
              </c:strCache>
            </c:strRef>
          </c:tx>
          <c:spPr>
            <a:solidFill>
              <a:srgbClr val="B8322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Grade A</c:v>
                </c:pt>
                <c:pt idx="1">
                  <c:v>Grade B</c:v>
                </c:pt>
                <c:pt idx="2">
                  <c:v>Grade C</c:v>
                </c:pt>
                <c:pt idx="3">
                  <c:v>Grade D</c:v>
                </c:pt>
                <c:pt idx="4">
                  <c:v>Grade E</c:v>
                </c:pt>
                <c:pt idx="5">
                  <c:v>Grade F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69.81</c:v>
                </c:pt>
                <c:pt idx="1">
                  <c:v>70.53</c:v>
                </c:pt>
                <c:pt idx="2">
                  <c:v>85.71</c:v>
                </c:pt>
                <c:pt idx="3">
                  <c:v>96.77</c:v>
                </c:pt>
                <c:pt idx="4">
                  <c:v>100</c:v>
                </c:pt>
                <c:pt idx="5">
                  <c:v>85.71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76D-5340-9EC9-7F6CB8FD4E6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8716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8"/>
          <c:min val="0"/>
        </c:scaling>
        <c:delete val="0"/>
        <c:axPos val="l"/>
        <c:majorGridlines>
          <c:spPr>
            <a:ln w="6350" cap="flat">
              <a:solidFill>
                <a:srgbClr val="EAE6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8716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Ausfallquote in %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7B2-9142-A975-9C6B038E9A1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C7B2-9142-A975-9C6B038E9A1F}"/>
              </c:ext>
            </c:extLst>
          </c:dPt>
          <c:dPt>
            <c:idx val="2"/>
            <c:invertIfNegative val="0"/>
            <c:bubble3D val="0"/>
            <c:spPr>
              <a:solidFill>
                <a:srgbClr val="1A6B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7B2-9142-A975-9C6B038E9A1F}"/>
              </c:ext>
            </c:extLst>
          </c:dPt>
          <c:dPt>
            <c:idx val="3"/>
            <c:invertIfNegative val="0"/>
            <c:bubble3D val="0"/>
            <c:spPr>
              <a:solidFill>
                <a:srgbClr val="B8322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7B2-9142-A975-9C6B038E9A1F}"/>
              </c:ext>
            </c:extLst>
          </c:dPt>
          <c:dPt>
            <c:idx val="4"/>
            <c:invertIfNegative val="0"/>
            <c:bubble3D val="0"/>
            <c:spPr>
              <a:solidFill>
                <a:srgbClr val="B8322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7B2-9142-A975-9C6B038E9A1F}"/>
              </c:ext>
            </c:extLst>
          </c:dPt>
          <c:dPt>
            <c:idx val="5"/>
            <c:invertIfNegative val="0"/>
            <c:bubble3D val="0"/>
            <c:spPr>
              <a:solidFill>
                <a:srgbClr val="B8322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C7B2-9142-A975-9C6B038E9A1F}"/>
              </c:ext>
            </c:extLst>
          </c:dPt>
          <c:dPt>
            <c:idx val="6"/>
            <c:invertIfNegative val="0"/>
            <c:bubble3D val="0"/>
            <c:spPr>
              <a:solidFill>
                <a:srgbClr val="B8322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C7B2-9142-A975-9C6B038E9A1F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9,96 %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C7B2-9142-A975-9C6B038E9A1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16,28 %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C7B2-9142-A975-9C6B038E9A1F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20,74 %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C7B2-9142-A975-9C6B038E9A1F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59,03 %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C7B2-9142-A975-9C6B038E9A1F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64,42 %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C7B2-9142-A975-9C6B038E9A1F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dirty="0"/>
                      <a:t>70,54</a:t>
                    </a:r>
                    <a:r>
                      <a:rPr lang="en-US" baseline="0" dirty="0"/>
                      <a:t> </a:t>
                    </a:r>
                    <a:r>
                      <a:rPr lang="en-US" dirty="0"/>
                      <a:t>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C7B2-9142-A975-9C6B038E9A1F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/>
                      <a:t>98,44 %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C7B2-9142-A975-9C6B038E9A1F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  <c:pt idx="4">
                  <c:v>E</c:v>
                </c:pt>
                <c:pt idx="5">
                  <c:v>F</c:v>
                </c:pt>
                <c:pt idx="6">
                  <c:v>G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9.9600000000000009</c:v>
                </c:pt>
                <c:pt idx="1">
                  <c:v>16.28</c:v>
                </c:pt>
                <c:pt idx="2">
                  <c:v>20.74</c:v>
                </c:pt>
                <c:pt idx="3">
                  <c:v>59.03</c:v>
                </c:pt>
                <c:pt idx="4">
                  <c:v>64.42</c:v>
                </c:pt>
                <c:pt idx="5">
                  <c:v>70.540000000000006</c:v>
                </c:pt>
                <c:pt idx="6">
                  <c:v>98.44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C7B2-9142-A975-9C6B038E9A1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8716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8"/>
          <c:min val="0"/>
        </c:scaling>
        <c:delete val="0"/>
        <c:axPos val="l"/>
        <c:majorGridlines>
          <c:spPr>
            <a:ln w="6350" cap="flat">
              <a:solidFill>
                <a:srgbClr val="EAE6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8716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Anzahl Kredite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Grade D</c:v>
                </c:pt>
                <c:pt idx="1">
                  <c:v>Grade E</c:v>
                </c:pt>
                <c:pt idx="2">
                  <c:v>Grade F</c:v>
                </c:pt>
                <c:pt idx="3">
                  <c:v>Grade 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3625</c:v>
                </c:pt>
                <c:pt idx="1">
                  <c:v>964</c:v>
                </c:pt>
                <c:pt idx="2">
                  <c:v>241</c:v>
                </c:pt>
                <c:pt idx="3">
                  <c:v>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2E9-0644-8E2D-596B3D6FF2E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Ausfallquote %</c:v>
                </c:pt>
              </c:strCache>
            </c:strRef>
          </c:tx>
          <c:spPr>
            <a:solidFill>
              <a:srgbClr val="B83225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Grade D</c:v>
                </c:pt>
                <c:pt idx="1">
                  <c:v>Grade E</c:v>
                </c:pt>
                <c:pt idx="2">
                  <c:v>Grade F</c:v>
                </c:pt>
                <c:pt idx="3">
                  <c:v>Grade G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59.03</c:v>
                </c:pt>
                <c:pt idx="1">
                  <c:v>64.42</c:v>
                </c:pt>
                <c:pt idx="2">
                  <c:v>70.540000000000006</c:v>
                </c:pt>
                <c:pt idx="3">
                  <c:v>98.44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2E9-0644-8E2D-596B3D6FF2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8716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AE6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8716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Ausfallquote in %</c:v>
                </c:pt>
              </c:strCache>
            </c:strRef>
          </c:tx>
          <c:spPr>
            <a:solidFill>
              <a:srgbClr val="B86A0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3A61-1E4B-B2D7-842199CE41EA}"/>
              </c:ext>
            </c:extLst>
          </c:dPt>
          <c:dPt>
            <c:idx val="1"/>
            <c:invertIfNegative val="0"/>
            <c:bubble3D val="0"/>
            <c:spPr>
              <a:solidFill>
                <a:srgbClr val="B8322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3A61-1E4B-B2D7-842199CE41EA}"/>
              </c:ext>
            </c:extLst>
          </c:dPt>
          <c:dPt>
            <c:idx val="2"/>
            <c:invertIfNegative val="0"/>
            <c:bubble3D val="0"/>
            <c:spPr>
              <a:solidFill>
                <a:srgbClr val="B8322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3A61-1E4B-B2D7-842199CE41E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Modernisierung (26,10 %)</c:v>
                </c:pt>
                <c:pt idx="1">
                  <c:v>Med. Ausgaben (26,70 %)</c:v>
                </c:pt>
                <c:pt idx="2">
                  <c:v>Schuldenkonsolid. (28,59 %)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26.1</c:v>
                </c:pt>
                <c:pt idx="1">
                  <c:v>26.7</c:v>
                </c:pt>
                <c:pt idx="2">
                  <c:v>28.59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3A61-1E4B-B2D7-842199CE41E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8716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5"/>
          <c:min val="0"/>
        </c:scaling>
        <c:delete val="1"/>
        <c:axPos val="b"/>
        <c:majorGridlines>
          <c:spPr>
            <a:ln w="6350" cap="flat">
              <a:solidFill>
                <a:srgbClr val="EAE6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2221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C1ED3-FEC6-4565-F403-52DE6E925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B3C1D7-C1F6-C346-C760-5185C22010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1C2BCE-C5DC-A4B9-F8C2-7609B9FDBD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D55189-6BAD-529C-99C5-84BD742AFA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5319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36118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669280" cy="3611880"/>
          </a:xfrm>
          <a:prstGeom prst="rect">
            <a:avLst/>
          </a:prstGeom>
          <a:solidFill>
            <a:srgbClr val="000000">
              <a:alpha val="58000"/>
            </a:srgbClr>
          </a:solidFill>
          <a:ln w="12700">
            <a:solidFill>
              <a:srgbClr val="000000">
                <a:alpha val="58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Shape 1"/>
          <p:cNvSpPr/>
          <p:nvPr/>
        </p:nvSpPr>
        <p:spPr>
          <a:xfrm>
            <a:off x="566928" y="109728"/>
            <a:ext cx="64008" cy="3310128"/>
          </a:xfrm>
          <a:prstGeom prst="rect">
            <a:avLst/>
          </a:prstGeom>
          <a:solidFill>
            <a:srgbClr val="D4541A"/>
          </a:solidFill>
          <a:ln w="12700">
            <a:solidFill>
              <a:srgbClr val="D454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2"/>
          <p:cNvSpPr/>
          <p:nvPr/>
        </p:nvSpPr>
        <p:spPr>
          <a:xfrm>
            <a:off x="804672" y="201168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Kreditrisikoanalyse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804672" y="1207008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Datenanalyse für einen Finanzdienstleister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04672" y="169164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Abschlussprojekt  ·  Modul Datenbanken &amp; SQL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4672" y="208483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D0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Thorsten  ·  Juni 2026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0" y="3602736"/>
            <a:ext cx="9144000" cy="64008"/>
          </a:xfrm>
          <a:prstGeom prst="rect">
            <a:avLst/>
          </a:prstGeom>
          <a:solidFill>
            <a:srgbClr val="D4541A"/>
          </a:solidFill>
          <a:ln w="12700">
            <a:solidFill>
              <a:srgbClr val="D454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Shape 7"/>
          <p:cNvSpPr/>
          <p:nvPr/>
        </p:nvSpPr>
        <p:spPr>
          <a:xfrm>
            <a:off x="0" y="3666744"/>
            <a:ext cx="9144000" cy="1280160"/>
          </a:xfrm>
          <a:prstGeom prst="rect">
            <a:avLst/>
          </a:prstGeom>
          <a:solidFill>
            <a:srgbClr val="0D1A3A"/>
          </a:solidFill>
          <a:ln w="12700">
            <a:solidFill>
              <a:srgbClr val="0D1A3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Shape 8"/>
          <p:cNvSpPr/>
          <p:nvPr/>
        </p:nvSpPr>
        <p:spPr>
          <a:xfrm>
            <a:off x="384048" y="3749040"/>
            <a:ext cx="2743200" cy="1051560"/>
          </a:xfrm>
          <a:prstGeom prst="roundRect">
            <a:avLst>
              <a:gd name="adj" fmla="val 6087"/>
            </a:avLst>
          </a:prstGeom>
          <a:solidFill>
            <a:srgbClr val="1A2A4A"/>
          </a:solidFill>
          <a:ln w="6350">
            <a:solidFill>
              <a:srgbClr val="2A3A5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9"/>
          <p:cNvSpPr/>
          <p:nvPr/>
        </p:nvSpPr>
        <p:spPr>
          <a:xfrm>
            <a:off x="475488" y="381304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32.581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475488" y="43891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Kredite im Portfolio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3328416" y="3749040"/>
            <a:ext cx="2743200" cy="1051560"/>
          </a:xfrm>
          <a:prstGeom prst="roundRect">
            <a:avLst>
              <a:gd name="adj" fmla="val 6087"/>
            </a:avLst>
          </a:prstGeom>
          <a:solidFill>
            <a:srgbClr val="1A2A4A"/>
          </a:solidFill>
          <a:ln w="6350">
            <a:solidFill>
              <a:srgbClr val="2A3A5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2"/>
          <p:cNvSpPr/>
          <p:nvPr/>
        </p:nvSpPr>
        <p:spPr>
          <a:xfrm>
            <a:off x="3419856" y="381304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3419856" y="43891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Merkmale je Kredit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272784" y="3749040"/>
            <a:ext cx="2743200" cy="1051560"/>
          </a:xfrm>
          <a:prstGeom prst="roundRect">
            <a:avLst>
              <a:gd name="adj" fmla="val 6087"/>
            </a:avLst>
          </a:prstGeom>
          <a:solidFill>
            <a:srgbClr val="1A2A4A"/>
          </a:solidFill>
          <a:ln w="6350">
            <a:solidFill>
              <a:srgbClr val="2A3A5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5"/>
          <p:cNvSpPr/>
          <p:nvPr/>
        </p:nvSpPr>
        <p:spPr>
          <a:xfrm>
            <a:off x="6364224" y="381304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6364224" y="43891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Pflichtaufgaben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8"/>
          <p:cNvSpPr/>
          <p:nvPr/>
        </p:nvSpPr>
        <p:spPr>
          <a:xfrm>
            <a:off x="274320" y="4882896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Kreditrisikoanalyse  ·  Thorsten  ·  DataSmart Point  ·  Juni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64592"/>
            <a:ext cx="50292" cy="658368"/>
          </a:xfrm>
          <a:prstGeom prst="rect">
            <a:avLst/>
          </a:prstGeom>
          <a:solidFill>
            <a:srgbClr val="D4541A"/>
          </a:solidFill>
          <a:ln w="12700">
            <a:solidFill>
              <a:srgbClr val="D454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30352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6400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D4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Überblick über den Aufbau der Präsentation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84048" y="868680"/>
            <a:ext cx="8375904" cy="18288"/>
          </a:xfrm>
          <a:prstGeom prst="rect">
            <a:avLst/>
          </a:prstGeom>
          <a:solidFill>
            <a:srgbClr val="EDE9E3"/>
          </a:solidFill>
          <a:ln w="12700">
            <a:solidFill>
              <a:srgbClr val="EDE9E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384048" y="1024128"/>
            <a:ext cx="8375904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6350">
            <a:solidFill>
              <a:srgbClr val="EDE9E3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493776" y="1143000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493776" y="1143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24128" y="109728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Ausgangslage &amp; Projektauftrag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137160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hat der Vorstand in Auftrag gegeben?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321040" y="1188720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84048" y="1719072"/>
            <a:ext cx="8375904" cy="640080"/>
          </a:xfrm>
          <a:prstGeom prst="roundRect">
            <a:avLst>
              <a:gd name="adj" fmla="val 12857"/>
            </a:avLst>
          </a:prstGeom>
          <a:solidFill>
            <a:srgbClr val="F5F1EB"/>
          </a:solidFill>
          <a:ln w="6350">
            <a:solidFill>
              <a:srgbClr val="EDE9E3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Shape 11"/>
          <p:cNvSpPr/>
          <p:nvPr/>
        </p:nvSpPr>
        <p:spPr>
          <a:xfrm>
            <a:off x="493776" y="1837944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493776" y="1837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24128" y="1792224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Vorgehensweise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24128" y="2066544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 → Cleaning → Analyse → Klassifizierung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321040" y="1883664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84048" y="2414016"/>
            <a:ext cx="8375904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6350">
            <a:solidFill>
              <a:srgbClr val="EDE9E3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493776" y="2532888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493776" y="25328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24128" y="248716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Explorative Datenanalyse &amp; Data Cleaning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24128" y="276148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Datenqualität und Bereinigung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321040" y="2578608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84048" y="3108960"/>
            <a:ext cx="8375904" cy="640080"/>
          </a:xfrm>
          <a:prstGeom prst="roundRect">
            <a:avLst>
              <a:gd name="adj" fmla="val 12857"/>
            </a:avLst>
          </a:prstGeom>
          <a:solidFill>
            <a:srgbClr val="F5F1EB"/>
          </a:solidFill>
          <a:ln w="6350">
            <a:solidFill>
              <a:srgbClr val="EDE9E3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5" name="Shape 23"/>
          <p:cNvSpPr/>
          <p:nvPr/>
        </p:nvSpPr>
        <p:spPr>
          <a:xfrm>
            <a:off x="493776" y="3227832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D4541A"/>
          </a:solidFill>
          <a:ln w="12700">
            <a:solidFill>
              <a:srgbClr val="D454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493776" y="3227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24128" y="318211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der </a:t>
            </a:r>
            <a:r>
              <a:rPr lang="en-US" sz="1300" b="1" dirty="0" err="1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Kreditvergabe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24128" y="3456432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 Erkenntnisse und weitere Risikotreiber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321040" y="3273552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84048" y="3803904"/>
            <a:ext cx="8375904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6350">
            <a:solidFill>
              <a:srgbClr val="EDE9E3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1" name="Shape 29"/>
          <p:cNvSpPr/>
          <p:nvPr/>
        </p:nvSpPr>
        <p:spPr>
          <a:xfrm>
            <a:off x="493776" y="3922776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D4541A"/>
          </a:solidFill>
          <a:ln w="12700">
            <a:solidFill>
              <a:srgbClr val="D454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493776" y="39227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24128" y="3877056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Risikoklassifizierung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24128" y="4151376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Entwicklung und Ergebnis des 3-Klassen-Modells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321040" y="3968496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84048" y="4498848"/>
            <a:ext cx="8375904" cy="640080"/>
          </a:xfrm>
          <a:prstGeom prst="roundRect">
            <a:avLst>
              <a:gd name="adj" fmla="val 12857"/>
            </a:avLst>
          </a:prstGeom>
          <a:solidFill>
            <a:srgbClr val="F5F1EB"/>
          </a:solidFill>
          <a:ln w="6350">
            <a:solidFill>
              <a:srgbClr val="EDE9E3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7" name="Shape 35"/>
          <p:cNvSpPr/>
          <p:nvPr/>
        </p:nvSpPr>
        <p:spPr>
          <a:xfrm>
            <a:off x="493776" y="4617720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D4541A"/>
          </a:solidFill>
          <a:ln w="12700">
            <a:solidFill>
              <a:srgbClr val="D454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8" name="Text 36"/>
          <p:cNvSpPr/>
          <p:nvPr/>
        </p:nvSpPr>
        <p:spPr>
          <a:xfrm>
            <a:off x="493776" y="4617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24128" y="457200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Fazit &amp; Handlungsempfehlungen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024128" y="4846320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Kernzahlen und Maßnahmen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321040" y="4663440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229600" y="486460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64592"/>
            <a:ext cx="50292" cy="658368"/>
          </a:xfrm>
          <a:prstGeom prst="rect">
            <a:avLst/>
          </a:prstGeom>
          <a:solidFill>
            <a:srgbClr val="D4541A"/>
          </a:solidFill>
          <a:ln w="12700">
            <a:solidFill>
              <a:srgbClr val="D454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30352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Ausgangslage und Projektauftrag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6400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D4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hat der Vorstand in Auftrag gegeben?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84048" y="868680"/>
            <a:ext cx="8375904" cy="18288"/>
          </a:xfrm>
          <a:prstGeom prst="rect">
            <a:avLst/>
          </a:prstGeom>
          <a:solidFill>
            <a:srgbClr val="EDE9E3"/>
          </a:solidFill>
          <a:ln w="12700">
            <a:solidFill>
              <a:srgbClr val="EDE9E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384048" y="1005840"/>
            <a:ext cx="2788920" cy="379476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6350">
            <a:solidFill>
              <a:srgbClr val="EDE9E3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Ausgangssituation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42646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D4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Vorstand vermutet: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1700784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Probleme im Kreditvergabeprozess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Erhöhte Kreditausfälle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Schwächen in der Datenqualität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37560" y="1005840"/>
            <a:ext cx="2788920" cy="379476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6350">
            <a:solidFill>
              <a:srgbClr val="EDE9E3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3493008" y="109728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Projektauftrag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93008" y="1252728"/>
            <a:ext cx="2514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Datenqualität prüfen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Kreditportfolio analysieren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Risikofaktoren identifizieren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Kriterien für Risikogruppen entwickeln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Handlungsempfehlungen ableiten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91072" y="1005840"/>
            <a:ext cx="2468880" cy="379476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 w="6350">
            <a:solidFill>
              <a:srgbClr val="EDE9E3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6446520" y="1170432"/>
            <a:ext cx="2176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Daten-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grundlage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46520" y="1920240"/>
            <a:ext cx="21762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45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32.581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446520" y="2633472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Kredite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75120" y="2999232"/>
            <a:ext cx="1737360" cy="18288"/>
          </a:xfrm>
          <a:prstGeom prst="rect">
            <a:avLst/>
          </a:prstGeom>
          <a:solidFill>
            <a:srgbClr val="3A5A9A"/>
          </a:solidFill>
          <a:ln w="12700">
            <a:solidFill>
              <a:srgbClr val="3A5A9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6446520" y="3127248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45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446520" y="3621024"/>
            <a:ext cx="2176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Merkmale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0" y="486460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F5ECC8-C1BA-1E31-3F1B-A9F399386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58C8736-8CE4-FA51-1119-F49327C0132B}"/>
              </a:ext>
            </a:extLst>
          </p:cNvPr>
          <p:cNvSpPr/>
          <p:nvPr/>
        </p:nvSpPr>
        <p:spPr>
          <a:xfrm>
            <a:off x="384048" y="164592"/>
            <a:ext cx="50292" cy="658368"/>
          </a:xfrm>
          <a:prstGeom prst="rect">
            <a:avLst/>
          </a:prstGeom>
          <a:solidFill>
            <a:srgbClr val="D4541A"/>
          </a:solidFill>
          <a:ln w="12700">
            <a:solidFill>
              <a:srgbClr val="D454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FA17416-A190-4D6C-81CD-38422BCA84D3}"/>
              </a:ext>
            </a:extLst>
          </p:cNvPr>
          <p:cNvSpPr/>
          <p:nvPr/>
        </p:nvSpPr>
        <p:spPr>
          <a:xfrm>
            <a:off x="530352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Vorgehensweise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69CB088-B64B-316C-FA01-90DA12E0D174}"/>
              </a:ext>
            </a:extLst>
          </p:cNvPr>
          <p:cNvSpPr/>
          <p:nvPr/>
        </p:nvSpPr>
        <p:spPr>
          <a:xfrm>
            <a:off x="530352" y="6400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D4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Strukturierter Analyseprozess in sechs Schritten</a:t>
            </a:r>
            <a:endParaRPr lang="en-US" sz="105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20FB26A-552E-9B6F-05D4-23E1405720AD}"/>
              </a:ext>
            </a:extLst>
          </p:cNvPr>
          <p:cNvSpPr/>
          <p:nvPr/>
        </p:nvSpPr>
        <p:spPr>
          <a:xfrm>
            <a:off x="384048" y="868680"/>
            <a:ext cx="8375904" cy="18288"/>
          </a:xfrm>
          <a:prstGeom prst="rect">
            <a:avLst/>
          </a:prstGeom>
          <a:solidFill>
            <a:srgbClr val="EDE9E3"/>
          </a:solidFill>
          <a:ln w="12700">
            <a:solidFill>
              <a:srgbClr val="EDE9E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7F554EE-7501-0C0C-BCA9-41CFE93E7344}"/>
              </a:ext>
            </a:extLst>
          </p:cNvPr>
          <p:cNvSpPr/>
          <p:nvPr/>
        </p:nvSpPr>
        <p:spPr>
          <a:xfrm>
            <a:off x="384048" y="1097280"/>
            <a:ext cx="1298448" cy="2857500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6350">
            <a:solidFill>
              <a:srgbClr val="EDE9E3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D9ABE58-18D4-3D8F-478D-800113216701}"/>
              </a:ext>
            </a:extLst>
          </p:cNvPr>
          <p:cNvSpPr/>
          <p:nvPr/>
        </p:nvSpPr>
        <p:spPr>
          <a:xfrm>
            <a:off x="384048" y="1097280"/>
            <a:ext cx="1298448" cy="292608"/>
          </a:xfrm>
          <a:prstGeom prst="roundRect">
            <a:avLst>
              <a:gd name="adj" fmla="val 2812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6757E0C-8893-EAD6-27C1-6952DD73AB81}"/>
              </a:ext>
            </a:extLst>
          </p:cNvPr>
          <p:cNvSpPr/>
          <p:nvPr/>
        </p:nvSpPr>
        <p:spPr>
          <a:xfrm>
            <a:off x="429768" y="111556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A2BB4A4-9CE9-C7FA-43D6-3FD70F68A291}"/>
              </a:ext>
            </a:extLst>
          </p:cNvPr>
          <p:cNvSpPr/>
          <p:nvPr/>
        </p:nvSpPr>
        <p:spPr>
          <a:xfrm>
            <a:off x="758952" y="164592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1784D458-7E2B-2F13-4EEB-69E83E1CA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" y="1769364"/>
            <a:ext cx="301752" cy="301752"/>
          </a:xfrm>
          <a:prstGeom prst="rect">
            <a:avLst/>
          </a:prstGeom>
        </p:spPr>
      </p:pic>
      <p:sp>
        <p:nvSpPr>
          <p:cNvPr id="11" name="Text 8">
            <a:extLst>
              <a:ext uri="{FF2B5EF4-FFF2-40B4-BE49-F238E27FC236}">
                <a16:creationId xmlns:a16="http://schemas.microsoft.com/office/drawing/2014/main" id="{6C35C649-1644-79B5-ACB8-F0C4BA45C1DC}"/>
              </a:ext>
            </a:extLst>
          </p:cNvPr>
          <p:cNvSpPr/>
          <p:nvPr/>
        </p:nvSpPr>
        <p:spPr>
          <a:xfrm>
            <a:off x="438912" y="2286000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Explorative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Datenanalyse</a:t>
            </a:r>
            <a:endParaRPr lang="en-US" sz="110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36DC9856-75AE-9696-F89A-BF79A3AD1B98}"/>
              </a:ext>
            </a:extLst>
          </p:cNvPr>
          <p:cNvSpPr/>
          <p:nvPr/>
        </p:nvSpPr>
        <p:spPr>
          <a:xfrm rot="5400000">
            <a:off x="1691640" y="2153412"/>
            <a:ext cx="91440" cy="201168"/>
          </a:xfrm>
          <a:prstGeom prst="triangle">
            <a:avLst/>
          </a:prstGeom>
          <a:solidFill>
            <a:srgbClr val="C8C2B8"/>
          </a:solidFill>
          <a:ln w="12700">
            <a:solidFill>
              <a:srgbClr val="C8C2B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3050272B-17C4-267D-8090-6F5E2372E896}"/>
              </a:ext>
            </a:extLst>
          </p:cNvPr>
          <p:cNvSpPr/>
          <p:nvPr/>
        </p:nvSpPr>
        <p:spPr>
          <a:xfrm>
            <a:off x="1755648" y="1097280"/>
            <a:ext cx="1298448" cy="2857500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6350">
            <a:solidFill>
              <a:srgbClr val="EDE9E3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AF86728B-CFE5-D309-6A72-801B966EA0B8}"/>
              </a:ext>
            </a:extLst>
          </p:cNvPr>
          <p:cNvSpPr/>
          <p:nvPr/>
        </p:nvSpPr>
        <p:spPr>
          <a:xfrm>
            <a:off x="1755648" y="1097280"/>
            <a:ext cx="1298448" cy="292608"/>
          </a:xfrm>
          <a:prstGeom prst="roundRect">
            <a:avLst>
              <a:gd name="adj" fmla="val 28125"/>
            </a:avLst>
          </a:prstGeom>
          <a:solidFill>
            <a:srgbClr val="1A5A9A"/>
          </a:solidFill>
          <a:ln w="12700">
            <a:solidFill>
              <a:srgbClr val="1A5A9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61DA4579-6BAB-C28E-A98F-523A27F8E789}"/>
              </a:ext>
            </a:extLst>
          </p:cNvPr>
          <p:cNvSpPr/>
          <p:nvPr/>
        </p:nvSpPr>
        <p:spPr>
          <a:xfrm>
            <a:off x="1801368" y="111556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4F581EA7-EE21-34B7-FE75-841955BC2CD5}"/>
              </a:ext>
            </a:extLst>
          </p:cNvPr>
          <p:cNvSpPr/>
          <p:nvPr/>
        </p:nvSpPr>
        <p:spPr>
          <a:xfrm>
            <a:off x="2130552" y="1645920"/>
            <a:ext cx="548640" cy="548640"/>
          </a:xfrm>
          <a:prstGeom prst="ellipse">
            <a:avLst/>
          </a:prstGeom>
          <a:solidFill>
            <a:srgbClr val="1A5A9A"/>
          </a:solidFill>
          <a:ln w="12700">
            <a:solidFill>
              <a:srgbClr val="1A5A9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8" name="Image 1" descr="preencoded.png">
            <a:extLst>
              <a:ext uri="{FF2B5EF4-FFF2-40B4-BE49-F238E27FC236}">
                <a16:creationId xmlns:a16="http://schemas.microsoft.com/office/drawing/2014/main" id="{2F4C3869-D669-EDBC-6515-C39B09F085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3996" y="1769364"/>
            <a:ext cx="301752" cy="301752"/>
          </a:xfrm>
          <a:prstGeom prst="rect">
            <a:avLst/>
          </a:prstGeom>
        </p:spPr>
      </p:pic>
      <p:sp>
        <p:nvSpPr>
          <p:cNvPr id="19" name="Text 15">
            <a:extLst>
              <a:ext uri="{FF2B5EF4-FFF2-40B4-BE49-F238E27FC236}">
                <a16:creationId xmlns:a16="http://schemas.microsoft.com/office/drawing/2014/main" id="{A8E5DBFF-CC51-4BCF-4067-7E1538E9F845}"/>
              </a:ext>
            </a:extLst>
          </p:cNvPr>
          <p:cNvSpPr/>
          <p:nvPr/>
        </p:nvSpPr>
        <p:spPr>
          <a:xfrm>
            <a:off x="1810512" y="2286000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</a:t>
            </a:r>
            <a:endParaRPr lang="en-US" sz="1100" dirty="0"/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F368B30C-C27E-A740-CC4B-4AF144DBC111}"/>
              </a:ext>
            </a:extLst>
          </p:cNvPr>
          <p:cNvSpPr/>
          <p:nvPr/>
        </p:nvSpPr>
        <p:spPr>
          <a:xfrm rot="5400000">
            <a:off x="3063240" y="2153412"/>
            <a:ext cx="91440" cy="201168"/>
          </a:xfrm>
          <a:prstGeom prst="triangle">
            <a:avLst/>
          </a:prstGeom>
          <a:solidFill>
            <a:srgbClr val="C8C2B8"/>
          </a:solidFill>
          <a:ln w="12700">
            <a:solidFill>
              <a:srgbClr val="C8C2B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68361131-86E4-22C4-EBD1-F6D76B86A3AA}"/>
              </a:ext>
            </a:extLst>
          </p:cNvPr>
          <p:cNvSpPr/>
          <p:nvPr/>
        </p:nvSpPr>
        <p:spPr>
          <a:xfrm>
            <a:off x="3130944" y="1115568"/>
            <a:ext cx="1298448" cy="2839212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6350">
            <a:solidFill>
              <a:srgbClr val="EDE9E3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3" name="Shape 19">
            <a:extLst>
              <a:ext uri="{FF2B5EF4-FFF2-40B4-BE49-F238E27FC236}">
                <a16:creationId xmlns:a16="http://schemas.microsoft.com/office/drawing/2014/main" id="{491C9EFE-0B48-CDC7-5D89-07BCD7A0CDC6}"/>
              </a:ext>
            </a:extLst>
          </p:cNvPr>
          <p:cNvSpPr/>
          <p:nvPr/>
        </p:nvSpPr>
        <p:spPr>
          <a:xfrm>
            <a:off x="3127248" y="1097280"/>
            <a:ext cx="1298448" cy="292608"/>
          </a:xfrm>
          <a:prstGeom prst="roundRect">
            <a:avLst>
              <a:gd name="adj" fmla="val 28125"/>
            </a:avLst>
          </a:prstGeom>
          <a:solidFill>
            <a:srgbClr val="D4541A"/>
          </a:solidFill>
          <a:ln w="12700">
            <a:solidFill>
              <a:srgbClr val="D454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620543B2-C1DF-1FA9-7BF4-D2C4E1ADFFB9}"/>
              </a:ext>
            </a:extLst>
          </p:cNvPr>
          <p:cNvSpPr/>
          <p:nvPr/>
        </p:nvSpPr>
        <p:spPr>
          <a:xfrm>
            <a:off x="3172968" y="111556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Shape 21">
            <a:extLst>
              <a:ext uri="{FF2B5EF4-FFF2-40B4-BE49-F238E27FC236}">
                <a16:creationId xmlns:a16="http://schemas.microsoft.com/office/drawing/2014/main" id="{F71E91E8-6E8E-AF68-930B-AA97A4F81727}"/>
              </a:ext>
            </a:extLst>
          </p:cNvPr>
          <p:cNvSpPr/>
          <p:nvPr/>
        </p:nvSpPr>
        <p:spPr>
          <a:xfrm>
            <a:off x="3502152" y="1645920"/>
            <a:ext cx="548640" cy="548640"/>
          </a:xfrm>
          <a:prstGeom prst="ellipse">
            <a:avLst/>
          </a:prstGeom>
          <a:solidFill>
            <a:srgbClr val="D4541A"/>
          </a:solidFill>
          <a:ln w="12700">
            <a:solidFill>
              <a:srgbClr val="D454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26" name="Image 2" descr="preencoded.png">
            <a:extLst>
              <a:ext uri="{FF2B5EF4-FFF2-40B4-BE49-F238E27FC236}">
                <a16:creationId xmlns:a16="http://schemas.microsoft.com/office/drawing/2014/main" id="{2D406822-C59F-AFCA-62A3-66E0BC0EE8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5596" y="1769364"/>
            <a:ext cx="301752" cy="301752"/>
          </a:xfrm>
          <a:prstGeom prst="rect">
            <a:avLst/>
          </a:prstGeom>
        </p:spPr>
      </p:pic>
      <p:sp>
        <p:nvSpPr>
          <p:cNvPr id="27" name="Text 22">
            <a:extLst>
              <a:ext uri="{FF2B5EF4-FFF2-40B4-BE49-F238E27FC236}">
                <a16:creationId xmlns:a16="http://schemas.microsoft.com/office/drawing/2014/main" id="{1BF3B39C-111D-E96A-0653-5E059C667827}"/>
              </a:ext>
            </a:extLst>
          </p:cNvPr>
          <p:cNvSpPr/>
          <p:nvPr/>
        </p:nvSpPr>
        <p:spPr>
          <a:xfrm>
            <a:off x="3182112" y="2286000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der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Kreditvergabe</a:t>
            </a:r>
            <a:endParaRPr lang="en-US" sz="1100" dirty="0"/>
          </a:p>
        </p:txBody>
      </p:sp>
      <p:sp>
        <p:nvSpPr>
          <p:cNvPr id="29" name="Shape 24">
            <a:extLst>
              <a:ext uri="{FF2B5EF4-FFF2-40B4-BE49-F238E27FC236}">
                <a16:creationId xmlns:a16="http://schemas.microsoft.com/office/drawing/2014/main" id="{C6E1081C-FDCB-8DA5-B221-34DC460C0129}"/>
              </a:ext>
            </a:extLst>
          </p:cNvPr>
          <p:cNvSpPr/>
          <p:nvPr/>
        </p:nvSpPr>
        <p:spPr>
          <a:xfrm rot="5400000">
            <a:off x="4434840" y="2153412"/>
            <a:ext cx="91440" cy="201168"/>
          </a:xfrm>
          <a:prstGeom prst="triangle">
            <a:avLst/>
          </a:prstGeom>
          <a:solidFill>
            <a:srgbClr val="C8C2B8"/>
          </a:solidFill>
          <a:ln w="12700">
            <a:solidFill>
              <a:srgbClr val="C8C2B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37437041-8CBA-2B94-33D7-D7EE8CD6990D}"/>
              </a:ext>
            </a:extLst>
          </p:cNvPr>
          <p:cNvSpPr/>
          <p:nvPr/>
        </p:nvSpPr>
        <p:spPr>
          <a:xfrm>
            <a:off x="4498848" y="1082391"/>
            <a:ext cx="1298448" cy="2857500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6350">
            <a:solidFill>
              <a:srgbClr val="EDE9E3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1" name="Shape 26">
            <a:extLst>
              <a:ext uri="{FF2B5EF4-FFF2-40B4-BE49-F238E27FC236}">
                <a16:creationId xmlns:a16="http://schemas.microsoft.com/office/drawing/2014/main" id="{63CD9858-E8AE-7DA8-EC22-24DCE84D894B}"/>
              </a:ext>
            </a:extLst>
          </p:cNvPr>
          <p:cNvSpPr/>
          <p:nvPr/>
        </p:nvSpPr>
        <p:spPr>
          <a:xfrm>
            <a:off x="4498848" y="1097280"/>
            <a:ext cx="1298448" cy="292608"/>
          </a:xfrm>
          <a:prstGeom prst="roundRect">
            <a:avLst>
              <a:gd name="adj" fmla="val 28125"/>
            </a:avLst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Text 27">
            <a:extLst>
              <a:ext uri="{FF2B5EF4-FFF2-40B4-BE49-F238E27FC236}">
                <a16:creationId xmlns:a16="http://schemas.microsoft.com/office/drawing/2014/main" id="{3D4BB7D9-CAE3-06C2-DE9F-46CE67835364}"/>
              </a:ext>
            </a:extLst>
          </p:cNvPr>
          <p:cNvSpPr/>
          <p:nvPr/>
        </p:nvSpPr>
        <p:spPr>
          <a:xfrm>
            <a:off x="4544568" y="111556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33" name="Shape 28">
            <a:extLst>
              <a:ext uri="{FF2B5EF4-FFF2-40B4-BE49-F238E27FC236}">
                <a16:creationId xmlns:a16="http://schemas.microsoft.com/office/drawing/2014/main" id="{F6A45A0A-388E-6111-DA1F-83D1C21C16C9}"/>
              </a:ext>
            </a:extLst>
          </p:cNvPr>
          <p:cNvSpPr/>
          <p:nvPr/>
        </p:nvSpPr>
        <p:spPr>
          <a:xfrm>
            <a:off x="4873752" y="1645920"/>
            <a:ext cx="548640" cy="548640"/>
          </a:xfrm>
          <a:prstGeom prst="ellipse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34" name="Image 3" descr="preencoded.png">
            <a:extLst>
              <a:ext uri="{FF2B5EF4-FFF2-40B4-BE49-F238E27FC236}">
                <a16:creationId xmlns:a16="http://schemas.microsoft.com/office/drawing/2014/main" id="{CD477540-A2E9-733E-D311-05CBFA5F38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7196" y="1769364"/>
            <a:ext cx="301752" cy="301752"/>
          </a:xfrm>
          <a:prstGeom prst="rect">
            <a:avLst/>
          </a:prstGeom>
        </p:spPr>
      </p:pic>
      <p:sp>
        <p:nvSpPr>
          <p:cNvPr id="35" name="Text 29">
            <a:extLst>
              <a:ext uri="{FF2B5EF4-FFF2-40B4-BE49-F238E27FC236}">
                <a16:creationId xmlns:a16="http://schemas.microsoft.com/office/drawing/2014/main" id="{14F3F823-1E18-A4E7-C8B5-20A5C2A8D5EC}"/>
              </a:ext>
            </a:extLst>
          </p:cNvPr>
          <p:cNvSpPr/>
          <p:nvPr/>
        </p:nvSpPr>
        <p:spPr>
          <a:xfrm>
            <a:off x="4553712" y="2286000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Identifikation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Risikofaktoren</a:t>
            </a:r>
            <a:endParaRPr lang="en-US" sz="1100" dirty="0"/>
          </a:p>
        </p:txBody>
      </p:sp>
      <p:sp>
        <p:nvSpPr>
          <p:cNvPr id="37" name="Shape 31">
            <a:extLst>
              <a:ext uri="{FF2B5EF4-FFF2-40B4-BE49-F238E27FC236}">
                <a16:creationId xmlns:a16="http://schemas.microsoft.com/office/drawing/2014/main" id="{0B887951-1607-CC38-87AB-ACF2C06B0B84}"/>
              </a:ext>
            </a:extLst>
          </p:cNvPr>
          <p:cNvSpPr/>
          <p:nvPr/>
        </p:nvSpPr>
        <p:spPr>
          <a:xfrm rot="5400000">
            <a:off x="5806440" y="2153412"/>
            <a:ext cx="91440" cy="201168"/>
          </a:xfrm>
          <a:prstGeom prst="triangle">
            <a:avLst/>
          </a:prstGeom>
          <a:solidFill>
            <a:srgbClr val="C8C2B8"/>
          </a:solidFill>
          <a:ln w="12700">
            <a:solidFill>
              <a:srgbClr val="C8C2B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8" name="Shape 32">
            <a:extLst>
              <a:ext uri="{FF2B5EF4-FFF2-40B4-BE49-F238E27FC236}">
                <a16:creationId xmlns:a16="http://schemas.microsoft.com/office/drawing/2014/main" id="{532D7655-3994-4F98-242C-ACAFB173F7FA}"/>
              </a:ext>
            </a:extLst>
          </p:cNvPr>
          <p:cNvSpPr/>
          <p:nvPr/>
        </p:nvSpPr>
        <p:spPr>
          <a:xfrm>
            <a:off x="5870448" y="1097280"/>
            <a:ext cx="1298448" cy="2857500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6350">
            <a:solidFill>
              <a:srgbClr val="EDE9E3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9" name="Shape 33">
            <a:extLst>
              <a:ext uri="{FF2B5EF4-FFF2-40B4-BE49-F238E27FC236}">
                <a16:creationId xmlns:a16="http://schemas.microsoft.com/office/drawing/2014/main" id="{5C5E30A5-52DC-2935-6021-FCEB97CFA122}"/>
              </a:ext>
            </a:extLst>
          </p:cNvPr>
          <p:cNvSpPr/>
          <p:nvPr/>
        </p:nvSpPr>
        <p:spPr>
          <a:xfrm>
            <a:off x="5870448" y="1097280"/>
            <a:ext cx="1298448" cy="292608"/>
          </a:xfrm>
          <a:prstGeom prst="roundRect">
            <a:avLst>
              <a:gd name="adj" fmla="val 28125"/>
            </a:avLst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0" name="Text 34">
            <a:extLst>
              <a:ext uri="{FF2B5EF4-FFF2-40B4-BE49-F238E27FC236}">
                <a16:creationId xmlns:a16="http://schemas.microsoft.com/office/drawing/2014/main" id="{7051BCA5-1ADC-9CA7-A356-CA4C483446F6}"/>
              </a:ext>
            </a:extLst>
          </p:cNvPr>
          <p:cNvSpPr/>
          <p:nvPr/>
        </p:nvSpPr>
        <p:spPr>
          <a:xfrm>
            <a:off x="5916168" y="111556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41" name="Shape 35">
            <a:extLst>
              <a:ext uri="{FF2B5EF4-FFF2-40B4-BE49-F238E27FC236}">
                <a16:creationId xmlns:a16="http://schemas.microsoft.com/office/drawing/2014/main" id="{7091AA86-0D3D-D318-216D-5C7A75375BB0}"/>
              </a:ext>
            </a:extLst>
          </p:cNvPr>
          <p:cNvSpPr/>
          <p:nvPr/>
        </p:nvSpPr>
        <p:spPr>
          <a:xfrm>
            <a:off x="6245352" y="1645920"/>
            <a:ext cx="548640" cy="548640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42" name="Image 4" descr="preencoded.png">
            <a:extLst>
              <a:ext uri="{FF2B5EF4-FFF2-40B4-BE49-F238E27FC236}">
                <a16:creationId xmlns:a16="http://schemas.microsoft.com/office/drawing/2014/main" id="{DD77CC4E-9353-40DF-0841-28096EB2A5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8796" y="1769364"/>
            <a:ext cx="301752" cy="301752"/>
          </a:xfrm>
          <a:prstGeom prst="rect">
            <a:avLst/>
          </a:prstGeom>
        </p:spPr>
      </p:pic>
      <p:sp>
        <p:nvSpPr>
          <p:cNvPr id="43" name="Text 36">
            <a:extLst>
              <a:ext uri="{FF2B5EF4-FFF2-40B4-BE49-F238E27FC236}">
                <a16:creationId xmlns:a16="http://schemas.microsoft.com/office/drawing/2014/main" id="{A272CD5A-A2C5-A937-95AC-4AA4A5883C95}"/>
              </a:ext>
            </a:extLst>
          </p:cNvPr>
          <p:cNvSpPr/>
          <p:nvPr/>
        </p:nvSpPr>
        <p:spPr>
          <a:xfrm>
            <a:off x="5925312" y="2286000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Risikoklassi-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fizierung</a:t>
            </a:r>
            <a:endParaRPr lang="en-US" sz="1100" dirty="0"/>
          </a:p>
        </p:txBody>
      </p:sp>
      <p:sp>
        <p:nvSpPr>
          <p:cNvPr id="45" name="Shape 38">
            <a:extLst>
              <a:ext uri="{FF2B5EF4-FFF2-40B4-BE49-F238E27FC236}">
                <a16:creationId xmlns:a16="http://schemas.microsoft.com/office/drawing/2014/main" id="{93E89746-1E55-3C35-741B-C31DE6820451}"/>
              </a:ext>
            </a:extLst>
          </p:cNvPr>
          <p:cNvSpPr/>
          <p:nvPr/>
        </p:nvSpPr>
        <p:spPr>
          <a:xfrm rot="5400000">
            <a:off x="7178040" y="2153412"/>
            <a:ext cx="91440" cy="201168"/>
          </a:xfrm>
          <a:prstGeom prst="triangle">
            <a:avLst/>
          </a:prstGeom>
          <a:solidFill>
            <a:srgbClr val="C8C2B8"/>
          </a:solidFill>
          <a:ln w="12700">
            <a:solidFill>
              <a:srgbClr val="C8C2B8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6" name="Shape 39">
            <a:extLst>
              <a:ext uri="{FF2B5EF4-FFF2-40B4-BE49-F238E27FC236}">
                <a16:creationId xmlns:a16="http://schemas.microsoft.com/office/drawing/2014/main" id="{3D4AC379-1B77-62F3-78E1-459406552C9D}"/>
              </a:ext>
            </a:extLst>
          </p:cNvPr>
          <p:cNvSpPr/>
          <p:nvPr/>
        </p:nvSpPr>
        <p:spPr>
          <a:xfrm>
            <a:off x="7242048" y="1097280"/>
            <a:ext cx="1298448" cy="2857500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6350">
            <a:solidFill>
              <a:srgbClr val="EDE9E3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7" name="Shape 40">
            <a:extLst>
              <a:ext uri="{FF2B5EF4-FFF2-40B4-BE49-F238E27FC236}">
                <a16:creationId xmlns:a16="http://schemas.microsoft.com/office/drawing/2014/main" id="{2F8DDCC2-396B-8446-6DC2-2D90A8A54D01}"/>
              </a:ext>
            </a:extLst>
          </p:cNvPr>
          <p:cNvSpPr/>
          <p:nvPr/>
        </p:nvSpPr>
        <p:spPr>
          <a:xfrm>
            <a:off x="7242048" y="1097280"/>
            <a:ext cx="1298448" cy="292608"/>
          </a:xfrm>
          <a:prstGeom prst="roundRect">
            <a:avLst>
              <a:gd name="adj" fmla="val 28125"/>
            </a:avLst>
          </a:prstGeom>
          <a:solidFill>
            <a:srgbClr val="6B4C9A"/>
          </a:solidFill>
          <a:ln w="12700">
            <a:solidFill>
              <a:srgbClr val="6B4C9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8" name="Text 41">
            <a:extLst>
              <a:ext uri="{FF2B5EF4-FFF2-40B4-BE49-F238E27FC236}">
                <a16:creationId xmlns:a16="http://schemas.microsoft.com/office/drawing/2014/main" id="{B5C21538-3FDA-EC4A-E1D5-C709105AB541}"/>
              </a:ext>
            </a:extLst>
          </p:cNvPr>
          <p:cNvSpPr/>
          <p:nvPr/>
        </p:nvSpPr>
        <p:spPr>
          <a:xfrm>
            <a:off x="7287768" y="111556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49" name="Shape 42">
            <a:extLst>
              <a:ext uri="{FF2B5EF4-FFF2-40B4-BE49-F238E27FC236}">
                <a16:creationId xmlns:a16="http://schemas.microsoft.com/office/drawing/2014/main" id="{1176B765-CE94-9318-44DB-6ECCD9E87670}"/>
              </a:ext>
            </a:extLst>
          </p:cNvPr>
          <p:cNvSpPr/>
          <p:nvPr/>
        </p:nvSpPr>
        <p:spPr>
          <a:xfrm>
            <a:off x="7616952" y="1645920"/>
            <a:ext cx="548640" cy="548640"/>
          </a:xfrm>
          <a:prstGeom prst="ellipse">
            <a:avLst/>
          </a:prstGeom>
          <a:solidFill>
            <a:srgbClr val="6B4C9A"/>
          </a:solidFill>
          <a:ln w="12700">
            <a:solidFill>
              <a:srgbClr val="6B4C9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50" name="Image 5" descr="preencoded.png">
            <a:extLst>
              <a:ext uri="{FF2B5EF4-FFF2-40B4-BE49-F238E27FC236}">
                <a16:creationId xmlns:a16="http://schemas.microsoft.com/office/drawing/2014/main" id="{3272B5B3-CD63-1ACB-6D88-A1738F03A8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0396" y="1769364"/>
            <a:ext cx="301752" cy="301752"/>
          </a:xfrm>
          <a:prstGeom prst="rect">
            <a:avLst/>
          </a:prstGeom>
        </p:spPr>
      </p:pic>
      <p:sp>
        <p:nvSpPr>
          <p:cNvPr id="51" name="Text 43">
            <a:extLst>
              <a:ext uri="{FF2B5EF4-FFF2-40B4-BE49-F238E27FC236}">
                <a16:creationId xmlns:a16="http://schemas.microsoft.com/office/drawing/2014/main" id="{BE8C59A3-CF36-0DE2-4677-C660374E1AC1}"/>
              </a:ext>
            </a:extLst>
          </p:cNvPr>
          <p:cNvSpPr/>
          <p:nvPr/>
        </p:nvSpPr>
        <p:spPr>
          <a:xfrm>
            <a:off x="7296912" y="2286000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Handlungs-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empfehlungen</a:t>
            </a:r>
            <a:endParaRPr lang="en-US" sz="1100" dirty="0"/>
          </a:p>
        </p:txBody>
      </p:sp>
      <p:sp>
        <p:nvSpPr>
          <p:cNvPr id="53" name="Text 45">
            <a:extLst>
              <a:ext uri="{FF2B5EF4-FFF2-40B4-BE49-F238E27FC236}">
                <a16:creationId xmlns:a16="http://schemas.microsoft.com/office/drawing/2014/main" id="{0CE1B6D9-F408-823E-D574-4A6DF332CEBB}"/>
              </a:ext>
            </a:extLst>
          </p:cNvPr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Jeder Schritt baut auf dem vorherigen auf – von der Datenqualität bis zur konkreten Handlungsempfehlung.</a:t>
            </a:r>
            <a:endParaRPr lang="en-US" sz="1050" dirty="0"/>
          </a:p>
        </p:txBody>
      </p:sp>
      <p:sp>
        <p:nvSpPr>
          <p:cNvPr id="54" name="Text 46">
            <a:extLst>
              <a:ext uri="{FF2B5EF4-FFF2-40B4-BE49-F238E27FC236}">
                <a16:creationId xmlns:a16="http://schemas.microsoft.com/office/drawing/2014/main" id="{4B9FE25B-0E43-349F-D222-1806A0CFF7B3}"/>
              </a:ext>
            </a:extLst>
          </p:cNvPr>
          <p:cNvSpPr/>
          <p:nvPr/>
        </p:nvSpPr>
        <p:spPr>
          <a:xfrm>
            <a:off x="8229600" y="486460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15</a:t>
            </a:r>
            <a:endParaRPr lang="en-US" sz="900" dirty="0"/>
          </a:p>
        </p:txBody>
      </p:sp>
      <p:sp>
        <p:nvSpPr>
          <p:cNvPr id="12" name="TextBox 14">
            <a:extLst>
              <a:ext uri="{FF2B5EF4-FFF2-40B4-BE49-F238E27FC236}">
                <a16:creationId xmlns:a16="http://schemas.microsoft.com/office/drawing/2014/main" id="{6B232F16-E8BD-AC09-2E42-A982F518563F}"/>
              </a:ext>
            </a:extLst>
          </p:cNvPr>
          <p:cNvSpPr txBox="1"/>
          <p:nvPr/>
        </p:nvSpPr>
        <p:spPr>
          <a:xfrm>
            <a:off x="384048" y="2999232"/>
            <a:ext cx="124358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 err="1">
                <a:solidFill>
                  <a:srgbClr val="333344"/>
                </a:solidFill>
              </a:rPr>
              <a:t>Struktur</a:t>
            </a:r>
            <a:r>
              <a:rPr sz="1000" b="0" i="0" dirty="0">
                <a:solidFill>
                  <a:srgbClr val="333344"/>
                </a:solidFill>
              </a:rPr>
              <a:t>, </a:t>
            </a:r>
            <a:r>
              <a:rPr sz="1000" b="0" i="0" dirty="0" err="1">
                <a:solidFill>
                  <a:srgbClr val="333344"/>
                </a:solidFill>
              </a:rPr>
              <a:t>Wertebereiche</a:t>
            </a:r>
            <a:r>
              <a:rPr sz="1000" b="0" i="0" dirty="0">
                <a:solidFill>
                  <a:srgbClr val="333344"/>
                </a:solidFill>
              </a:rPr>
              <a:t> &amp; </a:t>
            </a:r>
            <a:r>
              <a:rPr sz="1000" b="0" i="0" dirty="0" err="1">
                <a:solidFill>
                  <a:srgbClr val="333344"/>
                </a:solidFill>
              </a:rPr>
              <a:t>Datentypen</a:t>
            </a:r>
            <a:endParaRPr sz="1000" b="0" i="0" dirty="0">
              <a:solidFill>
                <a:srgbClr val="333344"/>
              </a:solidFill>
            </a:endParaRPr>
          </a:p>
        </p:txBody>
      </p:sp>
      <p:sp>
        <p:nvSpPr>
          <p:cNvPr id="20" name="TextBox 21">
            <a:extLst>
              <a:ext uri="{FF2B5EF4-FFF2-40B4-BE49-F238E27FC236}">
                <a16:creationId xmlns:a16="http://schemas.microsoft.com/office/drawing/2014/main" id="{47D4B8D6-3F24-F798-1F23-03C070C0E59B}"/>
              </a:ext>
            </a:extLst>
          </p:cNvPr>
          <p:cNvSpPr txBox="1"/>
          <p:nvPr/>
        </p:nvSpPr>
        <p:spPr>
          <a:xfrm>
            <a:off x="1772510" y="3007548"/>
            <a:ext cx="11887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333344"/>
                </a:solidFill>
              </a:rPr>
              <a:t>Fehler </a:t>
            </a:r>
            <a:r>
              <a:rPr sz="1000" b="0" i="0" dirty="0" err="1">
                <a:solidFill>
                  <a:srgbClr val="333344"/>
                </a:solidFill>
              </a:rPr>
              <a:t>bereinigen</a:t>
            </a:r>
            <a:r>
              <a:rPr sz="1000" b="0" i="0" dirty="0">
                <a:solidFill>
                  <a:srgbClr val="333344"/>
                </a:solidFill>
              </a:rPr>
              <a:t>, </a:t>
            </a:r>
            <a:r>
              <a:rPr sz="1000" b="0" i="0" dirty="0" err="1">
                <a:solidFill>
                  <a:srgbClr val="333344"/>
                </a:solidFill>
              </a:rPr>
              <a:t>Arbeitstabelle</a:t>
            </a:r>
            <a:r>
              <a:rPr sz="1000" b="0" i="0" dirty="0">
                <a:solidFill>
                  <a:srgbClr val="333344"/>
                </a:solidFill>
              </a:rPr>
              <a:t> </a:t>
            </a:r>
            <a:r>
              <a:rPr sz="1000" b="0" i="0" dirty="0" err="1">
                <a:solidFill>
                  <a:srgbClr val="333344"/>
                </a:solidFill>
              </a:rPr>
              <a:t>anlegen</a:t>
            </a:r>
            <a:endParaRPr sz="1000" b="0" i="0" dirty="0">
              <a:solidFill>
                <a:srgbClr val="333344"/>
              </a:solidFill>
            </a:endParaRP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3FBD6835-645D-524A-DB83-42F1ADF3A98C}"/>
              </a:ext>
            </a:extLst>
          </p:cNvPr>
          <p:cNvSpPr txBox="1"/>
          <p:nvPr/>
        </p:nvSpPr>
        <p:spPr>
          <a:xfrm>
            <a:off x="4539996" y="3009197"/>
            <a:ext cx="121615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 err="1">
                <a:solidFill>
                  <a:srgbClr val="333344"/>
                </a:solidFill>
              </a:rPr>
              <a:t>Risikofaktoren</a:t>
            </a:r>
            <a:r>
              <a:rPr sz="1000" b="0" i="0" dirty="0">
                <a:solidFill>
                  <a:srgbClr val="333344"/>
                </a:solidFill>
              </a:rPr>
              <a:t> &amp; </a:t>
            </a:r>
            <a:r>
              <a:rPr sz="1000" b="0" i="0" dirty="0" err="1">
                <a:solidFill>
                  <a:srgbClr val="333344"/>
                </a:solidFill>
              </a:rPr>
              <a:t>Vergabeprobleme</a:t>
            </a:r>
            <a:r>
              <a:rPr sz="1000" b="0" i="0" dirty="0">
                <a:solidFill>
                  <a:srgbClr val="333344"/>
                </a:solidFill>
              </a:rPr>
              <a:t> </a:t>
            </a:r>
            <a:r>
              <a:rPr sz="1000" b="0" i="0" dirty="0" err="1">
                <a:solidFill>
                  <a:srgbClr val="333344"/>
                </a:solidFill>
              </a:rPr>
              <a:t>aufdecken</a:t>
            </a:r>
            <a:endParaRPr sz="1000" b="0" i="0" dirty="0">
              <a:solidFill>
                <a:srgbClr val="333344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9BF77F4-138E-FB1B-3FE9-8B308F636850}"/>
              </a:ext>
            </a:extLst>
          </p:cNvPr>
          <p:cNvSpPr txBox="1"/>
          <p:nvPr/>
        </p:nvSpPr>
        <p:spPr>
          <a:xfrm>
            <a:off x="5838444" y="3012948"/>
            <a:ext cx="120700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333344"/>
                </a:solidFill>
              </a:rPr>
              <a:t>CASE WHEN: 3 </a:t>
            </a:r>
            <a:r>
              <a:rPr sz="1000" b="0" i="0" dirty="0" err="1">
                <a:solidFill>
                  <a:srgbClr val="333344"/>
                </a:solidFill>
              </a:rPr>
              <a:t>Risikogruppen</a:t>
            </a:r>
            <a:r>
              <a:rPr sz="1000" b="0" i="0" dirty="0">
                <a:solidFill>
                  <a:srgbClr val="333344"/>
                </a:solidFill>
              </a:rPr>
              <a:t> </a:t>
            </a:r>
            <a:r>
              <a:rPr sz="1000" b="0" i="0" dirty="0" err="1">
                <a:solidFill>
                  <a:srgbClr val="333344"/>
                </a:solidFill>
              </a:rPr>
              <a:t>entwickeln</a:t>
            </a:r>
            <a:endParaRPr sz="1000" b="0" i="0" dirty="0">
              <a:solidFill>
                <a:srgbClr val="333344"/>
              </a:solidFill>
            </a:endParaRPr>
          </a:p>
        </p:txBody>
      </p:sp>
      <p:sp>
        <p:nvSpPr>
          <p:cNvPr id="44" name="TextBox 42">
            <a:extLst>
              <a:ext uri="{FF2B5EF4-FFF2-40B4-BE49-F238E27FC236}">
                <a16:creationId xmlns:a16="http://schemas.microsoft.com/office/drawing/2014/main" id="{94313FBF-EAF3-4ABA-386D-81A77BF43CBF}"/>
              </a:ext>
            </a:extLst>
          </p:cNvPr>
          <p:cNvSpPr txBox="1"/>
          <p:nvPr/>
        </p:nvSpPr>
        <p:spPr>
          <a:xfrm>
            <a:off x="7223760" y="3005098"/>
            <a:ext cx="118923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33344"/>
                </a:solidFill>
              </a:rPr>
              <a:t>Implikationen für den Vorstand ableiten</a:t>
            </a:r>
          </a:p>
        </p:txBody>
      </p:sp>
      <p:sp>
        <p:nvSpPr>
          <p:cNvPr id="52" name="TextBox 21">
            <a:extLst>
              <a:ext uri="{FF2B5EF4-FFF2-40B4-BE49-F238E27FC236}">
                <a16:creationId xmlns:a16="http://schemas.microsoft.com/office/drawing/2014/main" id="{C0960D19-692A-F215-EA88-F3DC1F021080}"/>
              </a:ext>
            </a:extLst>
          </p:cNvPr>
          <p:cNvSpPr txBox="1"/>
          <p:nvPr/>
        </p:nvSpPr>
        <p:spPr>
          <a:xfrm>
            <a:off x="3107395" y="3002407"/>
            <a:ext cx="11887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de-DE" sz="1000" b="0" i="0" dirty="0">
                <a:solidFill>
                  <a:srgbClr val="333344"/>
                </a:solidFill>
              </a:rPr>
              <a:t>Portfolioanalyse</a:t>
            </a:r>
            <a:endParaRPr sz="1000" b="0" i="0" dirty="0">
              <a:solidFill>
                <a:srgbClr val="33334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4720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64592"/>
            <a:ext cx="50292" cy="658368"/>
          </a:xfrm>
          <a:prstGeom prst="rect">
            <a:avLst/>
          </a:prstGeom>
          <a:solidFill>
            <a:srgbClr val="D4541A"/>
          </a:solidFill>
          <a:ln w="12700">
            <a:solidFill>
              <a:srgbClr val="D454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30352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Explorative Datenanalyse (EDA)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6400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D4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 die Datenbasis für eine belastbare Analyse geeignet?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84048" y="868680"/>
            <a:ext cx="8375904" cy="18288"/>
          </a:xfrm>
          <a:prstGeom prst="rect">
            <a:avLst/>
          </a:prstGeom>
          <a:solidFill>
            <a:srgbClr val="EDE9E3"/>
          </a:solidFill>
          <a:ln w="12700">
            <a:solidFill>
              <a:srgbClr val="EDE9E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0429488"/>
              </p:ext>
            </p:extLst>
          </p:nvPr>
        </p:nvGraphicFramePr>
        <p:xfrm>
          <a:off x="384048" y="1005840"/>
          <a:ext cx="5486400" cy="2950464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Auffälligkeit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Anzahl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Bewertung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Alter &gt; 100 Jahre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 </a:t>
                      </a:r>
                      <a:r>
                        <a:rPr lang="en-US" sz="1100" dirty="0" err="1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Datenfehler</a:t>
                      </a: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und </a:t>
                      </a:r>
                      <a:r>
                        <a:rPr lang="en-US" sz="1100" dirty="0" err="1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entfernt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Beschäftigungsdauer &gt; Lebensalter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 </a:t>
                      </a:r>
                      <a:r>
                        <a:rPr lang="en-US" sz="1100" dirty="0" err="1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Datenfehler</a:t>
                      </a: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und </a:t>
                      </a:r>
                      <a:r>
                        <a:rPr lang="en-US" sz="1100" dirty="0" err="1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entfernt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Fehlende Zinssätze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3.115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  </a:t>
                      </a:r>
                      <a:r>
                        <a:rPr lang="en-US" sz="1100" dirty="0" err="1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Datenqualität</a:t>
                      </a: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b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</a:br>
                      <a:r>
                        <a:rPr lang="en-US" sz="8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(10% der </a:t>
                      </a:r>
                      <a:r>
                        <a:rPr lang="en-US" sz="800" dirty="0" err="1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Werte</a:t>
                      </a:r>
                      <a:r>
                        <a:rPr lang="en-US" sz="8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800" dirty="0" err="1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fehlen</a:t>
                      </a:r>
                      <a:r>
                        <a:rPr lang="en-US" sz="8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800" dirty="0" err="1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komplett</a:t>
                      </a:r>
                      <a:r>
                        <a:rPr lang="en-US" sz="8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Fehlende Beschäftigungsdauer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  </a:t>
                      </a:r>
                      <a:r>
                        <a:rPr lang="en-US" sz="1100" dirty="0" err="1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Datenqualität</a:t>
                      </a: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b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</a:br>
                      <a:r>
                        <a:rPr lang="en-US" sz="8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</a:t>
                      </a:r>
                      <a:r>
                        <a:rPr lang="en-US" sz="800" dirty="0" err="1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keine</a:t>
                      </a:r>
                      <a:r>
                        <a:rPr lang="en-US" sz="8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800" dirty="0" err="1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belastbare</a:t>
                      </a:r>
                      <a:r>
                        <a:rPr lang="en-US" sz="8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800" dirty="0" err="1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Grundlage</a:t>
                      </a:r>
                      <a:r>
                        <a:rPr lang="en-US" sz="8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für </a:t>
                      </a:r>
                      <a:r>
                        <a:rPr lang="en-US" sz="800" dirty="0" err="1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Klassifizierung</a:t>
                      </a:r>
                      <a:r>
                        <a:rPr lang="en-US" sz="8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)</a:t>
                      </a:r>
                      <a:b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</a:b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Kreditlaufzeit fehlt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❌  </a:t>
                      </a:r>
                      <a:r>
                        <a:rPr lang="en-US" sz="1100" dirty="0" err="1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Strukturmangel</a:t>
                      </a:r>
                      <a:br>
                        <a:rPr lang="en-US" sz="10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</a:br>
                      <a:r>
                        <a:rPr lang="en-US" sz="800" dirty="0">
                          <a:solidFill>
                            <a:srgbClr val="1A1A2E"/>
                          </a:solidFill>
                          <a:latin typeface="Arial" panose="020B0604020202020204" pitchFamily="34" charset="0"/>
                          <a:ea typeface="Arial" pitchFamily="34" charset="-122"/>
                          <a:cs typeface="Arial" panose="020B0604020202020204" pitchFamily="34" charset="0"/>
                        </a:rPr>
                        <a:t>(</a:t>
                      </a:r>
                      <a:r>
                        <a:rPr lang="de-DE" sz="800" b="0" i="0" dirty="0">
                          <a:solidFill>
                            <a:srgbClr val="33334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Blinder Fleck, mtl. Belastung nicht berechenbar)</a:t>
                      </a:r>
                    </a:p>
                    <a:p>
                      <a:pPr marL="0" indent="0" algn="l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080760" y="1005840"/>
            <a:ext cx="2679192" cy="2788920"/>
          </a:xfrm>
          <a:prstGeom prst="roundRect">
            <a:avLst>
              <a:gd name="adj" fmla="val 3072"/>
            </a:avLst>
          </a:prstGeom>
          <a:solidFill>
            <a:srgbClr val="1E2761"/>
          </a:solidFill>
          <a:ln w="6350">
            <a:solidFill>
              <a:srgbClr val="EDE9E3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Text 5"/>
          <p:cNvSpPr/>
          <p:nvPr/>
        </p:nvSpPr>
        <p:spPr>
          <a:xfrm>
            <a:off x="6236208" y="105518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5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Kernerkenntnis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236208" y="135331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Datensatz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grundsätzlich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nutzbar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446520" y="2226731"/>
            <a:ext cx="1920240" cy="24342"/>
          </a:xfrm>
          <a:prstGeom prst="rect">
            <a:avLst/>
          </a:prstGeom>
          <a:solidFill>
            <a:srgbClr val="3A5A9A"/>
          </a:solidFill>
          <a:ln w="12700">
            <a:solidFill>
              <a:srgbClr val="3A5A9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8"/>
          <p:cNvSpPr/>
          <p:nvPr/>
        </p:nvSpPr>
        <p:spPr>
          <a:xfrm>
            <a:off x="6236208" y="2450592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>
              <a:solidFill>
                <a:srgbClr val="A8BACE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171450" indent="-171450">
              <a:buFontTx/>
              <a:buChar char="-"/>
            </a:pPr>
            <a:r>
              <a:rPr lang="en-US" sz="1000" dirty="0" err="1">
                <a:solidFill>
                  <a:srgbClr val="A8BA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Qualitätsmängel</a:t>
            </a:r>
            <a:r>
              <a:rPr lang="en-US" sz="1000" dirty="0">
                <a:solidFill>
                  <a:srgbClr val="A8BA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A8BA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vorhanden</a:t>
            </a:r>
            <a:r>
              <a:rPr lang="en-US" sz="1000" dirty="0">
                <a:solidFill>
                  <a:srgbClr val="A8BA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</a:p>
          <a:p>
            <a:pPr marL="171450" indent="-171450">
              <a:buFontTx/>
              <a:buChar char="-"/>
            </a:pPr>
            <a:r>
              <a:rPr lang="en-US" sz="1000" dirty="0" err="1">
                <a:solidFill>
                  <a:srgbClr val="A8BA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Kreditlaufzeit</a:t>
            </a:r>
            <a:r>
              <a:rPr lang="en-US" sz="1000" dirty="0">
                <a:solidFill>
                  <a:srgbClr val="A8BA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A8BA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fehlt</a:t>
            </a:r>
            <a:r>
              <a:rPr lang="en-US" sz="1000" dirty="0">
                <a:solidFill>
                  <a:srgbClr val="A8BA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A8BA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vollständig</a:t>
            </a:r>
            <a:r>
              <a:rPr lang="en-US" sz="1000" dirty="0">
                <a:solidFill>
                  <a:srgbClr val="A8BA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1000" dirty="0" err="1">
                <a:solidFill>
                  <a:srgbClr val="A8BA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Mtl</a:t>
            </a:r>
            <a:r>
              <a:rPr lang="en-US" sz="1000" dirty="0">
                <a:solidFill>
                  <a:srgbClr val="A8BA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1000" dirty="0" err="1">
                <a:solidFill>
                  <a:srgbClr val="A8BA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Belastung</a:t>
            </a:r>
            <a:r>
              <a:rPr lang="en-US" sz="1000" dirty="0">
                <a:solidFill>
                  <a:srgbClr val="A8BA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A8BA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</a:t>
            </a:r>
            <a:r>
              <a:rPr lang="en-US" sz="1000" dirty="0">
                <a:solidFill>
                  <a:srgbClr val="A8BA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nicht </a:t>
            </a:r>
            <a:r>
              <a:rPr lang="en-US" sz="1000" dirty="0" err="1">
                <a:solidFill>
                  <a:srgbClr val="A8BA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berechenbar</a:t>
            </a:r>
            <a:r>
              <a:rPr lang="en-US" sz="1000" dirty="0">
                <a:solidFill>
                  <a:srgbClr val="A8BA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171450" indent="-171450">
              <a:buFontTx/>
              <a:buChar char="-"/>
            </a:pPr>
            <a:r>
              <a:rPr lang="en-US" sz="1000" dirty="0">
                <a:solidFill>
                  <a:srgbClr val="A8BA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10 % der </a:t>
            </a:r>
            <a:r>
              <a:rPr lang="en-US" sz="1000" dirty="0" err="1">
                <a:solidFill>
                  <a:srgbClr val="A8BA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Zinssätze</a:t>
            </a:r>
            <a:r>
              <a:rPr lang="en-US" sz="1000" dirty="0">
                <a:solidFill>
                  <a:srgbClr val="A8BA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A8BA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fehlen</a:t>
            </a:r>
            <a:r>
              <a:rPr lang="en-US" sz="1000" dirty="0">
                <a:solidFill>
                  <a:srgbClr val="A8BA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-&gt; </a:t>
            </a:r>
            <a:r>
              <a:rPr lang="en-US" sz="1000" dirty="0" err="1">
                <a:solidFill>
                  <a:srgbClr val="A8BA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Dokumentationslücke</a:t>
            </a:r>
            <a:endParaRPr lang="en-US" sz="1000" dirty="0">
              <a:solidFill>
                <a:srgbClr val="A8BACE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171450" indent="-171450">
              <a:buFontTx/>
              <a:buChar char="-"/>
            </a:pPr>
            <a:r>
              <a:rPr lang="en-US" sz="1000" dirty="0" err="1">
                <a:solidFill>
                  <a:srgbClr val="A8BA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Beschäftigungsdauer</a:t>
            </a:r>
            <a:r>
              <a:rPr lang="en-US" sz="1000" dirty="0">
                <a:solidFill>
                  <a:srgbClr val="A8BA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A8BA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unvollständig</a:t>
            </a:r>
            <a:r>
              <a:rPr lang="en-US" sz="1000" dirty="0">
                <a:solidFill>
                  <a:srgbClr val="A8BA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A8BA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erfasst</a:t>
            </a:r>
            <a:endParaRPr lang="en-US" sz="1000" dirty="0">
              <a:solidFill>
                <a:srgbClr val="A8BACE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171450" indent="-171450">
              <a:buFontTx/>
              <a:buChar char="-"/>
            </a:pP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84048" y="4205732"/>
            <a:ext cx="8375904" cy="594360"/>
          </a:xfrm>
          <a:prstGeom prst="roundRect">
            <a:avLst>
              <a:gd name="adj" fmla="val 13846"/>
            </a:avLst>
          </a:prstGeom>
          <a:solidFill>
            <a:srgbClr val="FBF0EB"/>
          </a:solidFill>
          <a:ln w="6350">
            <a:solidFill>
              <a:srgbClr val="EDE9E3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Text 10"/>
          <p:cNvSpPr/>
          <p:nvPr/>
        </p:nvSpPr>
        <p:spPr>
          <a:xfrm>
            <a:off x="566928" y="4297172"/>
            <a:ext cx="80101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loan_percent_income (Einkommensanteil) wird als Ersatzindikator für die finanzielle Belastung verwendet.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0" y="486460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64592"/>
            <a:ext cx="50292" cy="658368"/>
          </a:xfrm>
          <a:prstGeom prst="rect">
            <a:avLst/>
          </a:prstGeom>
          <a:solidFill>
            <a:srgbClr val="D4541A"/>
          </a:solidFill>
          <a:ln w="12700">
            <a:solidFill>
              <a:srgbClr val="D454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30352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6400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D4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Bereinigung ohne relevanten Datenverlust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84048" y="868680"/>
            <a:ext cx="8375904" cy="18288"/>
          </a:xfrm>
          <a:prstGeom prst="rect">
            <a:avLst/>
          </a:prstGeom>
          <a:solidFill>
            <a:srgbClr val="EDE9E3"/>
          </a:solidFill>
          <a:ln w="12700">
            <a:solidFill>
              <a:srgbClr val="EDE9E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384048" y="1005840"/>
            <a:ext cx="27432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6350">
            <a:solidFill>
              <a:srgbClr val="EDE9E3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530352" y="1298448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7" y="1405433"/>
            <a:ext cx="261518" cy="26151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33856" y="11704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Arbeitstabelle erstellt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133856" y="15361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bleibt unverändert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328416" y="1005840"/>
            <a:ext cx="27432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6350">
            <a:solidFill>
              <a:srgbClr val="EDE9E3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9"/>
          <p:cNvSpPr/>
          <p:nvPr/>
        </p:nvSpPr>
        <p:spPr>
          <a:xfrm>
            <a:off x="3474720" y="1298448"/>
            <a:ext cx="475488" cy="475488"/>
          </a:xfrm>
          <a:prstGeom prst="ellipse">
            <a:avLst/>
          </a:prstGeom>
          <a:solidFill>
            <a:srgbClr val="D4541A"/>
          </a:solidFill>
          <a:ln w="12700">
            <a:solidFill>
              <a:srgbClr val="D454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1705" y="1405433"/>
            <a:ext cx="261518" cy="26151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078224" y="11704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Key eingeführt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078224" y="15361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 err="1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loan_id</a:t>
            </a:r>
            <a:r>
              <a:rPr lang="en-US" sz="900" i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 i="1" dirty="0" err="1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</a:t>
            </a:r>
            <a:r>
              <a:rPr lang="en-US" sz="900" i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 i="1" dirty="0" err="1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eindeutiger</a:t>
            </a:r>
            <a:r>
              <a:rPr lang="en-US" sz="900" i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 i="1" dirty="0" err="1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Identifikator</a:t>
            </a:r>
            <a:r>
              <a:rPr lang="en-US" sz="900" i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 i="1" dirty="0" err="1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eingeführt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272784" y="1005840"/>
            <a:ext cx="274320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6350">
            <a:solidFill>
              <a:srgbClr val="EDE9E3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17" name="Shape 13"/>
          <p:cNvSpPr/>
          <p:nvPr/>
        </p:nvSpPr>
        <p:spPr>
          <a:xfrm>
            <a:off x="6419088" y="1298448"/>
            <a:ext cx="475488" cy="475488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6073" y="1405433"/>
            <a:ext cx="261518" cy="26151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022592" y="11704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Datentypen optimiert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6988759" y="1622673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DE" sz="900" i="1" dirty="0">
                <a:solidFill>
                  <a:srgbClr val="7A7A8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DECIMAL für Prozentwerte </a:t>
            </a:r>
            <a:br>
              <a:rPr lang="de-DE" sz="900" i="1" dirty="0">
                <a:solidFill>
                  <a:srgbClr val="7A7A8A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900" i="1" dirty="0">
                <a:solidFill>
                  <a:srgbClr val="7A7A8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TINYINT für </a:t>
            </a:r>
            <a:r>
              <a:rPr lang="de-DE" sz="900" i="1" dirty="0" err="1">
                <a:solidFill>
                  <a:srgbClr val="7A7A8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loan_status</a:t>
            </a:r>
            <a:r>
              <a:rPr lang="de-DE" sz="900" i="1" dirty="0">
                <a:solidFill>
                  <a:srgbClr val="7A7A8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de-DE" sz="900" i="1" dirty="0">
                <a:solidFill>
                  <a:srgbClr val="7A7A8A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900" i="1" dirty="0">
                <a:solidFill>
                  <a:srgbClr val="7A7A8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CHAR(1) für Loan Grade</a:t>
            </a:r>
          </a:p>
        </p:txBody>
      </p:sp>
      <p:sp>
        <p:nvSpPr>
          <p:cNvPr id="21" name="Shape 16"/>
          <p:cNvSpPr/>
          <p:nvPr/>
        </p:nvSpPr>
        <p:spPr>
          <a:xfrm>
            <a:off x="384048" y="2212848"/>
            <a:ext cx="5349240" cy="2176272"/>
          </a:xfrm>
          <a:prstGeom prst="roundRect">
            <a:avLst>
              <a:gd name="adj" fmla="val 3782"/>
            </a:avLst>
          </a:prstGeom>
          <a:solidFill>
            <a:srgbClr val="FFFFFF"/>
          </a:solidFill>
          <a:ln w="6350">
            <a:solidFill>
              <a:srgbClr val="EDE9E3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2" name="Text 17"/>
          <p:cNvSpPr/>
          <p:nvPr/>
        </p:nvSpPr>
        <p:spPr>
          <a:xfrm>
            <a:off x="566928" y="23225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Entfernte Datensätze</a:t>
            </a:r>
            <a:endParaRPr lang="en-US" sz="12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5512727"/>
              </p:ext>
            </p:extLst>
          </p:nvPr>
        </p:nvGraphicFramePr>
        <p:xfrm>
          <a:off x="502920" y="2651760"/>
          <a:ext cx="5120640" cy="1469136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6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Ausschlussgrund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Anzahl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Begründung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Alter &gt; 100 Jahre  (123 &amp; 144 J.)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Biologisch unplausibel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Beschäftigungsdauer &gt; </a:t>
                      </a:r>
                      <a:r>
                        <a:rPr lang="en-US" sz="1100" dirty="0" err="1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Lebensalter</a:t>
                      </a: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(123 J.)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Logisch unmöglich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Gesamt entfernt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AE6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Shape 18"/>
          <p:cNvSpPr/>
          <p:nvPr/>
        </p:nvSpPr>
        <p:spPr>
          <a:xfrm>
            <a:off x="5943600" y="2212848"/>
            <a:ext cx="1417320" cy="98755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EDE9E3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5" name="Text 19"/>
          <p:cNvSpPr/>
          <p:nvPr/>
        </p:nvSpPr>
        <p:spPr>
          <a:xfrm>
            <a:off x="6035040" y="2340864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32.581</a:t>
            </a:r>
            <a:endParaRPr lang="en-US" sz="2400" dirty="0"/>
          </a:p>
        </p:txBody>
      </p:sp>
      <p:sp>
        <p:nvSpPr>
          <p:cNvPr id="26" name="Text 20"/>
          <p:cNvSpPr/>
          <p:nvPr/>
        </p:nvSpPr>
        <p:spPr>
          <a:xfrm>
            <a:off x="5998464" y="2796115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 err="1">
                <a:solidFill>
                  <a:srgbClr val="78716C"/>
                </a:solidFill>
                <a:latin typeface="Arial" pitchFamily="34" charset="0"/>
                <a:cs typeface="Arial" pitchFamily="34" charset="-120"/>
              </a:rPr>
              <a:t>Originalbestand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5943600" y="3246120"/>
            <a:ext cx="1417320" cy="987552"/>
          </a:xfrm>
          <a:prstGeom prst="roundRect">
            <a:avLst>
              <a:gd name="adj" fmla="val 8333"/>
            </a:avLst>
          </a:prstGeom>
          <a:solidFill>
            <a:srgbClr val="E4F2EB"/>
          </a:solidFill>
          <a:ln w="6350">
            <a:solidFill>
              <a:srgbClr val="EDE9E3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9" name="Text 23"/>
          <p:cNvSpPr/>
          <p:nvPr/>
        </p:nvSpPr>
        <p:spPr>
          <a:xfrm>
            <a:off x="6035040" y="3374136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6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32.574</a:t>
            </a:r>
            <a:endParaRPr lang="en-US" sz="2400" dirty="0"/>
          </a:p>
        </p:txBody>
      </p:sp>
      <p:sp>
        <p:nvSpPr>
          <p:cNvPr id="30" name="Text 24"/>
          <p:cNvSpPr/>
          <p:nvPr/>
        </p:nvSpPr>
        <p:spPr>
          <a:xfrm>
            <a:off x="6041486" y="381304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Analysebestand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7479792" y="2633472"/>
            <a:ext cx="1261872" cy="877824"/>
          </a:xfrm>
          <a:prstGeom prst="roundRect">
            <a:avLst>
              <a:gd name="adj" fmla="val 9375"/>
            </a:avLst>
          </a:prstGeom>
          <a:solidFill>
            <a:srgbClr val="FBF0EB"/>
          </a:solidFill>
          <a:ln w="6350">
            <a:solidFill>
              <a:srgbClr val="EDE9E3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2" name="Text 26"/>
          <p:cNvSpPr/>
          <p:nvPr/>
        </p:nvSpPr>
        <p:spPr>
          <a:xfrm>
            <a:off x="7571232" y="2651760"/>
            <a:ext cx="1078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D45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99,98 %</a:t>
            </a:r>
            <a:endParaRPr lang="en-US" dirty="0"/>
          </a:p>
        </p:txBody>
      </p:sp>
      <p:sp>
        <p:nvSpPr>
          <p:cNvPr id="33" name="Text 27"/>
          <p:cNvSpPr/>
          <p:nvPr/>
        </p:nvSpPr>
        <p:spPr>
          <a:xfrm>
            <a:off x="7562088" y="3136392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Bestands nutzbar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8229600" y="486460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384048" y="998982"/>
            <a:ext cx="4187952" cy="3739896"/>
          </a:xfrm>
          <a:prstGeom prst="roundRect">
            <a:avLst>
              <a:gd name="adj" fmla="val 2206"/>
            </a:avLst>
          </a:prstGeom>
          <a:solidFill>
            <a:srgbClr val="1E2761"/>
          </a:solidFill>
          <a:ln w="6350">
            <a:solidFill>
              <a:srgbClr val="EDE9E3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 sz="900" dirty="0">
              <a:solidFill>
                <a:schemeClr val="bg2">
                  <a:lumMod val="9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66928" y="1389888"/>
            <a:ext cx="38221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Rückblick auf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 Portfolio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66928" y="2231136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BA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lief in der bisherigen Vergabe falsch?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2542032"/>
            <a:ext cx="3822192" cy="2066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 Grade (A–G)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Einkommensanteil (loan_percent_income)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Wohnsituation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8D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Kreditzweck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 err="1">
                <a:solidFill>
                  <a:srgbClr val="C8D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Frühere</a:t>
            </a:r>
            <a:r>
              <a:rPr lang="en-US" sz="1100" dirty="0">
                <a:solidFill>
                  <a:srgbClr val="C8D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 dirty="0" err="1">
                <a:solidFill>
                  <a:srgbClr val="C8D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Zahlungsausfälle</a:t>
            </a:r>
            <a:endParaRPr lang="en-US" sz="1100" dirty="0"/>
          </a:p>
          <a:p>
            <a:pPr>
              <a:buSzPct val="100000"/>
            </a:pPr>
            <a:endParaRPr lang="en-US" sz="1100" dirty="0">
              <a:solidFill>
                <a:srgbClr val="C8D8EE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>
              <a:buSzPct val="100000"/>
            </a:pPr>
            <a:r>
              <a:rPr lang="en-US" sz="1100" dirty="0">
                <a:solidFill>
                  <a:srgbClr val="C8D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Nicht </a:t>
            </a:r>
            <a:r>
              <a:rPr lang="en-US" sz="1100" dirty="0" err="1">
                <a:solidFill>
                  <a:srgbClr val="C8D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verwendet</a:t>
            </a:r>
            <a:endParaRPr lang="en-US" sz="1100" dirty="0">
              <a:solidFill>
                <a:srgbClr val="C8D8EE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en-US" sz="1100" dirty="0" err="1">
                <a:solidFill>
                  <a:srgbClr val="C8D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Zinssatz</a:t>
            </a:r>
            <a:r>
              <a:rPr lang="en-US" sz="8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800" dirty="0"/>
          </a:p>
          <a:p>
            <a:pPr marL="342900" indent="-342900">
              <a:buSzPct val="100000"/>
              <a:buChar char="•"/>
            </a:pPr>
            <a:r>
              <a:rPr lang="en-US" sz="1100" dirty="0" err="1">
                <a:solidFill>
                  <a:srgbClr val="C8D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Beschäftigungsdauer</a:t>
            </a:r>
            <a:endParaRPr lang="en-US" sz="1100" dirty="0">
              <a:solidFill>
                <a:srgbClr val="C8D8EE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773168" y="1005840"/>
            <a:ext cx="3986784" cy="3730752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6350">
            <a:solidFill>
              <a:srgbClr val="EDE9E3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4956048" y="1389888"/>
            <a:ext cx="36210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Werkzeug für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Zukunft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956048" y="2231136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Jeden Kreditnehmer individuell bewerten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56048" y="2615184"/>
            <a:ext cx="3621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 den </a:t>
            </a:r>
            <a:r>
              <a:rPr lang="en-US" sz="1200" dirty="0" err="1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Erkenntnissen</a:t>
            </a: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der </a:t>
            </a:r>
            <a:r>
              <a:rPr lang="en-US" sz="1200" dirty="0" err="1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Portfolioanalyse</a:t>
            </a: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lässt</a:t>
            </a: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</a:t>
            </a: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eine Risikoklassifizierung mit drei Klassen entwickeln.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56048" y="3401568"/>
            <a:ext cx="3621024" cy="310896"/>
          </a:xfrm>
          <a:prstGeom prst="roundRect">
            <a:avLst>
              <a:gd name="adj" fmla="val 17647"/>
            </a:avLst>
          </a:prstGeom>
          <a:solidFill>
            <a:srgbClr val="B83225"/>
          </a:solidFill>
          <a:ln w="12700">
            <a:solidFill>
              <a:srgbClr val="B8322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4956048" y="3401568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Hohes Risiko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56048" y="3767328"/>
            <a:ext cx="3621024" cy="310896"/>
          </a:xfrm>
          <a:prstGeom prst="roundRect">
            <a:avLst>
              <a:gd name="adj" fmla="val 17647"/>
            </a:avLst>
          </a:prstGeom>
          <a:solidFill>
            <a:srgbClr val="B86A00"/>
          </a:solidFill>
          <a:ln w="12700">
            <a:solidFill>
              <a:srgbClr val="B86A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4956048" y="3767328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Mittleres Risiko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956048" y="4133088"/>
            <a:ext cx="3621024" cy="310896"/>
          </a:xfrm>
          <a:prstGeom prst="roundRect">
            <a:avLst>
              <a:gd name="adj" fmla="val 17647"/>
            </a:avLst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4956048" y="4133088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Niedriges Risiko</a:t>
            </a:r>
            <a:endParaRPr lang="en-US" sz="1200" dirty="0"/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0BB41929-A09E-7D5C-744E-D0191A2F4C28}"/>
              </a:ext>
            </a:extLst>
          </p:cNvPr>
          <p:cNvSpPr/>
          <p:nvPr/>
        </p:nvSpPr>
        <p:spPr>
          <a:xfrm>
            <a:off x="566928" y="1115568"/>
            <a:ext cx="3822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4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Portfolioanalyse</a:t>
            </a:r>
            <a:endParaRPr lang="en-US" sz="1000" dirty="0"/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D0525865-8185-4C21-5F63-1ABB32356FC4}"/>
              </a:ext>
            </a:extLst>
          </p:cNvPr>
          <p:cNvSpPr/>
          <p:nvPr/>
        </p:nvSpPr>
        <p:spPr>
          <a:xfrm>
            <a:off x="4956048" y="1115568"/>
            <a:ext cx="3621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4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Risikoklassifizierung</a:t>
            </a:r>
            <a:endParaRPr lang="en-US" sz="1000" dirty="0"/>
          </a:p>
        </p:txBody>
      </p:sp>
      <p:sp>
        <p:nvSpPr>
          <p:cNvPr id="7" name="Shape 20">
            <a:extLst>
              <a:ext uri="{FF2B5EF4-FFF2-40B4-BE49-F238E27FC236}">
                <a16:creationId xmlns:a16="http://schemas.microsoft.com/office/drawing/2014/main" id="{723DA7B5-F3FC-F39C-768C-82C772C5F97B}"/>
              </a:ext>
            </a:extLst>
          </p:cNvPr>
          <p:cNvSpPr/>
          <p:nvPr/>
        </p:nvSpPr>
        <p:spPr>
          <a:xfrm>
            <a:off x="382270" y="4741164"/>
            <a:ext cx="8375904" cy="402336"/>
          </a:xfrm>
          <a:prstGeom prst="roundRect">
            <a:avLst>
              <a:gd name="adj" fmla="val 15909"/>
            </a:avLst>
          </a:prstGeom>
          <a:solidFill>
            <a:srgbClr val="D4541A"/>
          </a:solidFill>
          <a:ln w="12700">
            <a:solidFill>
              <a:srgbClr val="D454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256032" y="4814316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de-DE" sz="1000" dirty="0">
                <a:solidFill>
                  <a:schemeClr val="bg2">
                    <a:lumMod val="9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Zi</a:t>
            </a:r>
            <a:r>
              <a:rPr lang="de-DE" sz="1100" dirty="0">
                <a:solidFill>
                  <a:schemeClr val="bg2">
                    <a:lumMod val="9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war die Identifikation der wichtigsten Risikotreiber</a:t>
            </a:r>
            <a:r>
              <a:rPr lang="de-DE" sz="1000" dirty="0">
                <a:solidFill>
                  <a:schemeClr val="bg2">
                    <a:lumMod val="9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23" name="Text 21"/>
          <p:cNvSpPr/>
          <p:nvPr/>
        </p:nvSpPr>
        <p:spPr>
          <a:xfrm>
            <a:off x="8229600" y="486460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15</a:t>
            </a:r>
            <a:endParaRPr lang="en-US" sz="900" dirty="0"/>
          </a:p>
        </p:txBody>
      </p:sp>
      <p:sp>
        <p:nvSpPr>
          <p:cNvPr id="2" name="Shape 0"/>
          <p:cNvSpPr/>
          <p:nvPr/>
        </p:nvSpPr>
        <p:spPr>
          <a:xfrm>
            <a:off x="384048" y="164592"/>
            <a:ext cx="50292" cy="658368"/>
          </a:xfrm>
          <a:prstGeom prst="rect">
            <a:avLst/>
          </a:prstGeom>
          <a:solidFill>
            <a:srgbClr val="D4541A"/>
          </a:solidFill>
          <a:ln w="12700">
            <a:solidFill>
              <a:srgbClr val="D454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530352" y="6400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D4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Faktoren beeinflussen Kreditausfälle?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84048" y="868680"/>
            <a:ext cx="8375904" cy="18288"/>
          </a:xfrm>
          <a:prstGeom prst="rect">
            <a:avLst/>
          </a:prstGeom>
          <a:solidFill>
            <a:srgbClr val="EDE9E3"/>
          </a:solidFill>
          <a:ln w="12700">
            <a:solidFill>
              <a:srgbClr val="EDE9E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CF18DF9B-7F1D-7D04-4540-8EAAB55AF2CB}"/>
              </a:ext>
            </a:extLst>
          </p:cNvPr>
          <p:cNvSpPr/>
          <p:nvPr/>
        </p:nvSpPr>
        <p:spPr>
          <a:xfrm>
            <a:off x="530352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</a:t>
            </a: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der Kreditvergabe</a:t>
            </a:r>
            <a:endParaRPr lang="en-US" sz="2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64592"/>
            <a:ext cx="50292" cy="658368"/>
          </a:xfrm>
          <a:prstGeom prst="rect">
            <a:avLst/>
          </a:prstGeom>
          <a:solidFill>
            <a:srgbClr val="D4541A"/>
          </a:solidFill>
          <a:ln w="12700">
            <a:solidFill>
              <a:srgbClr val="D454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30352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Erkenntnis 1 – Extreme Einkommensbelastung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6400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D4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247 Kredite mit Einkommensanteil &gt; 50 % · </a:t>
            </a:r>
            <a:r>
              <a:rPr lang="en-US" sz="1050" i="1" dirty="0" err="1">
                <a:solidFill>
                  <a:srgbClr val="D4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Portfolioanalyse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84048" y="868680"/>
            <a:ext cx="8375904" cy="18288"/>
          </a:xfrm>
          <a:prstGeom prst="rect">
            <a:avLst/>
          </a:prstGeom>
          <a:solidFill>
            <a:srgbClr val="EDE9E3"/>
          </a:solidFill>
          <a:ln w="12700">
            <a:solidFill>
              <a:srgbClr val="EDE9E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384048" y="1005840"/>
            <a:ext cx="3218688" cy="3730752"/>
          </a:xfrm>
          <a:prstGeom prst="roundRect">
            <a:avLst>
              <a:gd name="adj" fmla="val 2557"/>
            </a:avLst>
          </a:prstGeom>
          <a:solidFill>
            <a:srgbClr val="FFFFFF"/>
          </a:solidFill>
          <a:ln w="6350">
            <a:solidFill>
              <a:srgbClr val="EDE9E3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475488" y="1097280"/>
            <a:ext cx="3035808" cy="960120"/>
          </a:xfrm>
          <a:prstGeom prst="roundRect">
            <a:avLst>
              <a:gd name="adj" fmla="val 8571"/>
            </a:avLst>
          </a:prstGeom>
          <a:solidFill>
            <a:srgbClr val="FBEAE8"/>
          </a:solidFill>
          <a:ln w="6350">
            <a:solidFill>
              <a:srgbClr val="EDE9E3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566928" y="1225296"/>
            <a:ext cx="2852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B83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247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48640" y="1783080"/>
            <a:ext cx="29987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 err="1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Kredite</a:t>
            </a: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 dirty="0" err="1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betroffen</a:t>
            </a: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sz="900" i="1" dirty="0" err="1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Gesamtausfallquote</a:t>
            </a:r>
            <a:r>
              <a:rPr lang="en-US" sz="900" i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Portfolio: 21,82 %)</a:t>
            </a:r>
            <a:endParaRPr lang="en-US" sz="900" dirty="0"/>
          </a:p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13232" y="2130552"/>
            <a:ext cx="2560320" cy="18288"/>
          </a:xfrm>
          <a:prstGeom prst="rect">
            <a:avLst/>
          </a:prstGeom>
          <a:solidFill>
            <a:srgbClr val="EDE9E3"/>
          </a:solidFill>
          <a:ln w="12700">
            <a:solidFill>
              <a:srgbClr val="EDE9E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566928" y="22128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Ausfallquoten (nach Grade)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252374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3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32688" y="25237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 Kredite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12848" y="252374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B832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69,81 %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" y="281635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3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32688" y="28163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 Kredite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212848" y="281635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B832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70,53 %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" y="310896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3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32688" y="31089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 Kredite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12848" y="310896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B832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85,71 %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" y="3401568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3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32688" y="34015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Kredite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12848" y="340156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B832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96,77 %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" y="369417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3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32688" y="369417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Kredite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212848" y="369417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B832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100,00 %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6928" y="3986784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3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32688" y="398678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Kredite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212848" y="398678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B832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85,71 %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0352" y="4315968"/>
            <a:ext cx="301701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DE" sz="800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Grade G fehlt in dieser Auswertung, weil keiner der 64 Grade-G-Kredite gleichzeitig die 50-%-Einkommensgrenze überschreitet. Die Gesamtausfallquote von 98,44 % spricht dennoch für sich.</a:t>
            </a:r>
          </a:p>
        </p:txBody>
      </p:sp>
      <p:graphicFrame>
        <p:nvGraphicFramePr>
          <p:cNvPr id="31" name="Chart 0"/>
          <p:cNvGraphicFramePr/>
          <p:nvPr>
            <p:extLst>
              <p:ext uri="{D42A27DB-BD31-4B8C-83A1-F6EECF244321}">
                <p14:modId xmlns:p14="http://schemas.microsoft.com/office/powerpoint/2010/main" val="3266236177"/>
              </p:ext>
            </p:extLst>
          </p:nvPr>
        </p:nvGraphicFramePr>
        <p:xfrm>
          <a:off x="3749040" y="1005840"/>
          <a:ext cx="5029200" cy="37124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2" name="Shape 29"/>
          <p:cNvSpPr/>
          <p:nvPr/>
        </p:nvSpPr>
        <p:spPr>
          <a:xfrm>
            <a:off x="365760" y="4791456"/>
            <a:ext cx="8412480" cy="347472"/>
          </a:xfrm>
          <a:prstGeom prst="roundRect">
            <a:avLst>
              <a:gd name="adj" fmla="val 23684"/>
            </a:avLst>
          </a:prstGeom>
          <a:solidFill>
            <a:srgbClr val="FBF0EB"/>
          </a:solidFill>
          <a:ln w="6350">
            <a:solidFill>
              <a:srgbClr val="EDE9E3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3" name="Text 30"/>
          <p:cNvSpPr/>
          <p:nvPr/>
        </p:nvSpPr>
        <p:spPr>
          <a:xfrm>
            <a:off x="365760" y="4828032"/>
            <a:ext cx="79781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Grade-A-Kreditnehmer fallen zu fast 70 % aus – sobald die 50-%-Grenze überschritten </a:t>
            </a:r>
            <a:r>
              <a:rPr lang="en-US" sz="1000" dirty="0" err="1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wird</a:t>
            </a: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1000" dirty="0" err="1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Diese</a:t>
            </a: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Warnsignale</a:t>
            </a: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lagen</a:t>
            </a: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</a:t>
            </a: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Vergabe</a:t>
            </a: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</a:t>
            </a: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8229600" y="486460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64592"/>
            <a:ext cx="50292" cy="658368"/>
          </a:xfrm>
          <a:prstGeom prst="rect">
            <a:avLst/>
          </a:prstGeom>
          <a:solidFill>
            <a:srgbClr val="D4541A"/>
          </a:solidFill>
          <a:ln w="12700">
            <a:solidFill>
              <a:srgbClr val="D454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30352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Erkenntnis 2 – Gute Bonität reicht nicht aus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6400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D4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A/B mit Einkommensanteil &gt; 50 % · </a:t>
            </a:r>
            <a:r>
              <a:rPr lang="en-US" sz="1050" i="1" dirty="0" err="1">
                <a:solidFill>
                  <a:srgbClr val="D4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Portfolioanalyse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84048" y="868680"/>
            <a:ext cx="8375904" cy="18288"/>
          </a:xfrm>
          <a:prstGeom prst="rect">
            <a:avLst/>
          </a:prstGeom>
          <a:solidFill>
            <a:srgbClr val="EDE9E3"/>
          </a:solidFill>
          <a:ln w="12700">
            <a:solidFill>
              <a:srgbClr val="EDE9E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384048" y="1078992"/>
            <a:ext cx="2724912" cy="1389888"/>
          </a:xfrm>
          <a:prstGeom prst="roundRect">
            <a:avLst>
              <a:gd name="adj" fmla="val 5921"/>
            </a:avLst>
          </a:prstGeom>
          <a:solidFill>
            <a:srgbClr val="FBEAE8"/>
          </a:solidFill>
          <a:ln w="6350">
            <a:solidFill>
              <a:srgbClr val="EDE9E3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475488" y="1207008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B83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148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75488" y="1773936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Kredite Grade A oder B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Einkommensanteil &gt; 50 %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55264" y="1078992"/>
            <a:ext cx="2724912" cy="1389888"/>
          </a:xfrm>
          <a:prstGeom prst="roundRect">
            <a:avLst>
              <a:gd name="adj" fmla="val 5921"/>
            </a:avLst>
          </a:prstGeom>
          <a:solidFill>
            <a:srgbClr val="FBEAE8"/>
          </a:solidFill>
          <a:ln w="6350">
            <a:solidFill>
              <a:srgbClr val="EDE9E3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3346704" y="1207008"/>
            <a:ext cx="2542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B83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104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346704" y="1773936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davon ausgefallen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1078992"/>
            <a:ext cx="2633472" cy="1389888"/>
          </a:xfrm>
          <a:prstGeom prst="roundRect">
            <a:avLst>
              <a:gd name="adj" fmla="val 5921"/>
            </a:avLst>
          </a:prstGeom>
          <a:solidFill>
            <a:srgbClr val="FBEAE8"/>
          </a:solidFill>
          <a:ln w="6350">
            <a:solidFill>
              <a:srgbClr val="EDE9E3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6217920" y="1207008"/>
            <a:ext cx="2450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B83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70,27 %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217920" y="1773936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 err="1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Ausfallquote</a:t>
            </a:r>
            <a:r>
              <a:rPr lang="en-US" sz="105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(A &amp; B)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55264" y="2194560"/>
            <a:ext cx="2724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Ø Einkommensanteil: 56,9 %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4048" y="2651760"/>
            <a:ext cx="8375904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6350">
            <a:solidFill>
              <a:srgbClr val="EDE9E3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566928" y="27614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das bedeutet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" y="3072384"/>
            <a:ext cx="801014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Bonitätsmodell hat diese 148 Kreditnehmer als </a:t>
            </a:r>
            <a:r>
              <a:rPr lang="en-US" sz="1300" b="1" dirty="0">
                <a:solidFill>
                  <a:srgbClr val="1A6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zuverlässig</a:t>
            </a: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eingestuft – 104 sind </a:t>
            </a:r>
            <a:r>
              <a:rPr lang="en-US" sz="1300" b="1" dirty="0">
                <a:solidFill>
                  <a:srgbClr val="B832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trotzdem ausgefallen.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Loan Grade allein reicht nicht als Entscheidungsgrundlage, wenn die finanzielle Belastung zu hoch ist.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84048" y="4096512"/>
            <a:ext cx="8375904" cy="658368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6350">
            <a:solidFill>
              <a:srgbClr val="EDE9E3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8229600" y="486460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15</a:t>
            </a:r>
            <a:endParaRPr lang="en-US" sz="900" dirty="0"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2A8540B7-EF01-C572-AECA-0F7FCA5C0705}"/>
              </a:ext>
            </a:extLst>
          </p:cNvPr>
          <p:cNvSpPr/>
          <p:nvPr/>
        </p:nvSpPr>
        <p:spPr>
          <a:xfrm>
            <a:off x="566928" y="4114800"/>
            <a:ext cx="8010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45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 Grade allein reicht nicht —</a:t>
            </a:r>
            <a:endParaRPr lang="en-US" sz="1600" dirty="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15224714-7BC3-6C73-881E-4BF06FC0782D}"/>
              </a:ext>
            </a:extLst>
          </p:cNvPr>
          <p:cNvSpPr/>
          <p:nvPr/>
        </p:nvSpPr>
        <p:spPr>
          <a:xfrm>
            <a:off x="566928" y="4425696"/>
            <a:ext cx="80101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Einkommensbelastung muss zwingend mitbewertet werden.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64592"/>
            <a:ext cx="50292" cy="658368"/>
          </a:xfrm>
          <a:prstGeom prst="rect">
            <a:avLst/>
          </a:prstGeom>
          <a:solidFill>
            <a:srgbClr val="D4541A"/>
          </a:solidFill>
          <a:ln w="12700">
            <a:solidFill>
              <a:srgbClr val="D454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30352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Erkenntnis 3 – Funktioniert das Bonitätsmodell?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6400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D4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Ausfallquoten nach Loan Grade (Gesamtportfolio) · </a:t>
            </a:r>
            <a:r>
              <a:rPr lang="en-US" sz="1050" i="1" dirty="0" err="1">
                <a:solidFill>
                  <a:srgbClr val="D4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Portfolioanalyse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84048" y="868680"/>
            <a:ext cx="8375904" cy="18288"/>
          </a:xfrm>
          <a:prstGeom prst="rect">
            <a:avLst/>
          </a:prstGeom>
          <a:solidFill>
            <a:srgbClr val="EDE9E3"/>
          </a:solidFill>
          <a:ln w="12700">
            <a:solidFill>
              <a:srgbClr val="EDE9E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565877005"/>
              </p:ext>
            </p:extLst>
          </p:nvPr>
        </p:nvGraphicFramePr>
        <p:xfrm>
          <a:off x="384048" y="1005840"/>
          <a:ext cx="5852160" cy="31592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473952" y="1005840"/>
            <a:ext cx="2286000" cy="1101413"/>
          </a:xfrm>
          <a:prstGeom prst="roundRect">
            <a:avLst>
              <a:gd name="adj" fmla="val 5556"/>
            </a:avLst>
          </a:prstGeom>
          <a:solidFill>
            <a:srgbClr val="E4F2EB"/>
          </a:solidFill>
          <a:ln w="6350">
            <a:solidFill>
              <a:srgbClr val="EDE9E3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Text 5"/>
          <p:cNvSpPr/>
          <p:nvPr/>
        </p:nvSpPr>
        <p:spPr>
          <a:xfrm>
            <a:off x="6601968" y="11155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6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 Modell funktioniert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601968" y="1426464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de-DE" sz="9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Die Bank hat ein Bewertungssystem das Risiko grundsätzlich richtig einschätzt. A = 9,96 %, G = 98,44 % — die Richtung stimmt.</a:t>
            </a:r>
            <a:r>
              <a:rPr lang="en-US" sz="90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.</a:t>
            </a:r>
            <a:endParaRPr lang="en-US" sz="900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473952" y="2276416"/>
            <a:ext cx="2286000" cy="1888675"/>
          </a:xfrm>
          <a:prstGeom prst="roundRect">
            <a:avLst>
              <a:gd name="adj" fmla="val 4054"/>
            </a:avLst>
          </a:prstGeom>
          <a:solidFill>
            <a:srgbClr val="FBEAE8"/>
          </a:solidFill>
          <a:ln w="6350">
            <a:solidFill>
              <a:srgbClr val="EDE9E3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Text 8"/>
          <p:cNvSpPr/>
          <p:nvPr/>
        </p:nvSpPr>
        <p:spPr>
          <a:xfrm>
            <a:off x="6601968" y="2386145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83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⚡  Kritischer Sprung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601968" y="2715329"/>
            <a:ext cx="2011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6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C: 20,74 %
</a:t>
            </a:r>
            <a:r>
              <a:rPr lang="en-US" sz="1300" b="1" dirty="0">
                <a:solidFill>
                  <a:srgbClr val="B83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 + 38 Prozentpunkte
D: 59,03 %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611112" y="3454904"/>
            <a:ext cx="2011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 Grade D fällt mehr als jeder zweite Kredit </a:t>
            </a:r>
            <a:r>
              <a:rPr lang="en-US" sz="900" dirty="0" err="1">
                <a:solidFill>
                  <a:schemeClr val="bg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aus.</a:t>
            </a:r>
            <a:endParaRPr lang="en-US" sz="900" dirty="0">
              <a:solidFill>
                <a:schemeClr val="bg2">
                  <a:lumMod val="50000"/>
                </a:schemeClr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en-US" sz="900" dirty="0">
                <a:solidFill>
                  <a:schemeClr val="bg2">
                    <a:lumMod val="50000"/>
                  </a:schemeClr>
                </a:solidFill>
                <a:latin typeface="Arial" pitchFamily="34" charset="0"/>
                <a:cs typeface="Arial" pitchFamily="34" charset="-120"/>
              </a:rPr>
              <a:t>D–G </a:t>
            </a:r>
            <a:r>
              <a:rPr lang="en-US" sz="900" dirty="0" err="1">
                <a:solidFill>
                  <a:schemeClr val="bg2">
                    <a:lumMod val="50000"/>
                  </a:schemeClr>
                </a:solidFill>
                <a:latin typeface="Arial" pitchFamily="34" charset="0"/>
                <a:cs typeface="Arial" pitchFamily="34" charset="-120"/>
              </a:rPr>
              <a:t>sind</a:t>
            </a:r>
            <a:r>
              <a:rPr lang="en-US" sz="900" dirty="0">
                <a:solidFill>
                  <a:schemeClr val="bg2">
                    <a:lumMod val="50000"/>
                  </a:schemeClr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900" dirty="0" err="1">
                <a:solidFill>
                  <a:schemeClr val="bg2">
                    <a:lumMod val="50000"/>
                  </a:schemeClr>
                </a:solidFill>
                <a:latin typeface="Arial" pitchFamily="34" charset="0"/>
                <a:cs typeface="Arial" pitchFamily="34" charset="-120"/>
              </a:rPr>
              <a:t>Hochrisikozone</a:t>
            </a:r>
            <a:endParaRPr lang="en-US" sz="9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4" name="Shape 17">
            <a:extLst>
              <a:ext uri="{FF2B5EF4-FFF2-40B4-BE49-F238E27FC236}">
                <a16:creationId xmlns:a16="http://schemas.microsoft.com/office/drawing/2014/main" id="{56871147-FD61-6275-B850-ABFE8EC3E36B}"/>
              </a:ext>
            </a:extLst>
          </p:cNvPr>
          <p:cNvSpPr/>
          <p:nvPr/>
        </p:nvSpPr>
        <p:spPr>
          <a:xfrm>
            <a:off x="365760" y="4334254"/>
            <a:ext cx="8475399" cy="754382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6350">
            <a:solidFill>
              <a:srgbClr val="EDE9E3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15" name="Text 12"/>
          <p:cNvSpPr/>
          <p:nvPr/>
        </p:nvSpPr>
        <p:spPr>
          <a:xfrm>
            <a:off x="8229600" y="486460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15</a:t>
            </a:r>
            <a:endParaRPr lang="en-US" sz="900" dirty="0">
              <a:solidFill>
                <a:schemeClr val="bg2"/>
              </a:solidFill>
            </a:endParaRPr>
          </a:p>
        </p:txBody>
      </p:sp>
      <p:sp>
        <p:nvSpPr>
          <p:cNvPr id="16" name="Text 19">
            <a:extLst>
              <a:ext uri="{FF2B5EF4-FFF2-40B4-BE49-F238E27FC236}">
                <a16:creationId xmlns:a16="http://schemas.microsoft.com/office/drawing/2014/main" id="{F74B6D2C-223D-03F1-0D3D-9C6B461A62D0}"/>
              </a:ext>
            </a:extLst>
          </p:cNvPr>
          <p:cNvSpPr/>
          <p:nvPr/>
        </p:nvSpPr>
        <p:spPr>
          <a:xfrm>
            <a:off x="566928" y="4526278"/>
            <a:ext cx="801014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de-DE" sz="1000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Das Bonitätsmodell funktioniert — die Zahlen steigen sauber von A bis G. Aber zwischen C und D gibt es einen Sprung von 38 Prozentpunkten. Ab Grade D fällt jeder zweite Kredit aus. Das Modell weiß das — die Frage ist, warum trotzdem fast 4.900 Kredite in diesen Klassen vergeben wurden.</a:t>
            </a:r>
            <a:endParaRPr lang="en-US" sz="1000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64592"/>
            <a:ext cx="50292" cy="658368"/>
          </a:xfrm>
          <a:prstGeom prst="rect">
            <a:avLst/>
          </a:prstGeom>
          <a:solidFill>
            <a:srgbClr val="D4541A"/>
          </a:solidFill>
          <a:ln w="12700">
            <a:solidFill>
              <a:srgbClr val="D454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30352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Erkenntnis 4 – Risiko erkannt, trotzdem vergeben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6400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D4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 Grade D–G · </a:t>
            </a:r>
            <a:r>
              <a:rPr lang="en-US" sz="1050" i="1" dirty="0" err="1">
                <a:solidFill>
                  <a:srgbClr val="D4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Portfolioanalyse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84048" y="868680"/>
            <a:ext cx="8375904" cy="18288"/>
          </a:xfrm>
          <a:prstGeom prst="rect">
            <a:avLst/>
          </a:prstGeom>
          <a:solidFill>
            <a:srgbClr val="EDE9E3"/>
          </a:solidFill>
          <a:ln w="12700">
            <a:solidFill>
              <a:srgbClr val="EDE9E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384048" y="1005840"/>
            <a:ext cx="4133088" cy="3730752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6350">
            <a:solidFill>
              <a:srgbClr val="EDE9E3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530352" y="1280160"/>
            <a:ext cx="38221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B83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4.894</a:t>
            </a:r>
            <a:endParaRPr lang="en-US" sz="6600" dirty="0"/>
          </a:p>
        </p:txBody>
      </p:sp>
      <p:sp>
        <p:nvSpPr>
          <p:cNvPr id="8" name="Text 6"/>
          <p:cNvSpPr/>
          <p:nvPr/>
        </p:nvSpPr>
        <p:spPr>
          <a:xfrm>
            <a:off x="530352" y="2304288"/>
            <a:ext cx="3822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Kredite in den Klassen D–G </a:t>
            </a:r>
            <a:r>
              <a:rPr lang="en-US" sz="1300" dirty="0" err="1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vergeben</a:t>
            </a:r>
            <a:b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de-DE" sz="1000" dirty="0">
                <a:solidFill>
                  <a:schemeClr val="bg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obwohl Ausfallquoten von 59 % bis 98 % bekannt waren</a:t>
            </a:r>
            <a:endParaRPr lang="en-US" sz="1000" dirty="0">
              <a:solidFill>
                <a:schemeClr val="bg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41248" y="2779776"/>
            <a:ext cx="3200400" cy="18288"/>
          </a:xfrm>
          <a:prstGeom prst="rect">
            <a:avLst/>
          </a:prstGeom>
          <a:solidFill>
            <a:srgbClr val="EDE9E3"/>
          </a:solidFill>
          <a:ln w="12700">
            <a:solidFill>
              <a:srgbClr val="EDE9E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566928" y="287121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3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Grade 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09344" y="287121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3.625 Kredite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999232" y="2871216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B832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59,03 %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" y="321868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3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Grade 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09344" y="32186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964 Kredite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99232" y="3218688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B832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64,42 %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" y="35661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3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Grade F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09344" y="35661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241 Kredite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999232" y="3566160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B832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70,54 %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" y="39136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3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Grade 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09344" y="39136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Kredite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999232" y="3913632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B832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98,44 %</a:t>
            </a:r>
            <a:endParaRPr lang="en-US" sz="110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4663440" y="1005840"/>
          <a:ext cx="4096512" cy="33649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Shape 20">
            <a:extLst>
              <a:ext uri="{FF2B5EF4-FFF2-40B4-BE49-F238E27FC236}">
                <a16:creationId xmlns:a16="http://schemas.microsoft.com/office/drawing/2014/main" id="{A665BE58-7322-B4AA-42EC-5DCACE772CBC}"/>
              </a:ext>
            </a:extLst>
          </p:cNvPr>
          <p:cNvSpPr/>
          <p:nvPr/>
        </p:nvSpPr>
        <p:spPr>
          <a:xfrm>
            <a:off x="384048" y="4663440"/>
            <a:ext cx="8375904" cy="402336"/>
          </a:xfrm>
          <a:prstGeom prst="roundRect">
            <a:avLst>
              <a:gd name="adj" fmla="val 15909"/>
            </a:avLst>
          </a:prstGeom>
          <a:solidFill>
            <a:srgbClr val="B83225"/>
          </a:solidFill>
          <a:ln w="12700">
            <a:solidFill>
              <a:srgbClr val="B8322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8BC6B461-5585-9DD5-108C-AB28B50598BA}"/>
              </a:ext>
            </a:extLst>
          </p:cNvPr>
          <p:cNvSpPr/>
          <p:nvPr/>
        </p:nvSpPr>
        <p:spPr>
          <a:xfrm>
            <a:off x="566928" y="4681728"/>
            <a:ext cx="8010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Die Schwäche liegt nicht im Scoring – sondern in der Risikobereitschaft der Vergabepraxis.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229600" y="486460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15</a:t>
            </a:r>
            <a:endParaRPr lang="en-US" sz="90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384048" y="4096513"/>
            <a:ext cx="4187952" cy="945985"/>
          </a:xfrm>
          <a:prstGeom prst="roundRect">
            <a:avLst>
              <a:gd name="adj" fmla="val 11538"/>
            </a:avLst>
          </a:prstGeom>
          <a:solidFill>
            <a:srgbClr val="FF0000">
              <a:alpha val="21000"/>
            </a:srgbClr>
          </a:solidFill>
          <a:ln w="6350">
            <a:solidFill>
              <a:srgbClr val="EDE9E3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17" name="TextBox 13">
            <a:extLst>
              <a:ext uri="{FF2B5EF4-FFF2-40B4-BE49-F238E27FC236}">
                <a16:creationId xmlns:a16="http://schemas.microsoft.com/office/drawing/2014/main" id="{049D4174-6C5F-5944-AC9A-86497970C3D4}"/>
              </a:ext>
            </a:extLst>
          </p:cNvPr>
          <p:cNvSpPr txBox="1"/>
          <p:nvPr/>
        </p:nvSpPr>
        <p:spPr>
          <a:xfrm>
            <a:off x="543476" y="4206429"/>
            <a:ext cx="393041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1D3A6E"/>
                </a:solidFill>
              </a:rPr>
              <a:t>🏠  </a:t>
            </a:r>
            <a:r>
              <a:rPr sz="1200" b="1" i="0" dirty="0" err="1">
                <a:solidFill>
                  <a:srgbClr val="1D3A6E"/>
                </a:solidFill>
              </a:rPr>
              <a:t>Wohnsituation</a:t>
            </a:r>
            <a:endParaRPr sz="1200" b="1" i="0" dirty="0">
              <a:solidFill>
                <a:srgbClr val="1D3A6E"/>
              </a:solidFill>
            </a:endParaRPr>
          </a:p>
        </p:txBody>
      </p:sp>
      <p:sp>
        <p:nvSpPr>
          <p:cNvPr id="18" name="TextBox 14">
            <a:extLst>
              <a:ext uri="{FF2B5EF4-FFF2-40B4-BE49-F238E27FC236}">
                <a16:creationId xmlns:a16="http://schemas.microsoft.com/office/drawing/2014/main" id="{8CD1A1BE-CB7C-9DF3-4099-DF9C62E28BEA}"/>
              </a:ext>
            </a:extLst>
          </p:cNvPr>
          <p:cNvSpPr txBox="1"/>
          <p:nvPr/>
        </p:nvSpPr>
        <p:spPr>
          <a:xfrm>
            <a:off x="543476" y="4470050"/>
            <a:ext cx="39304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222233"/>
                </a:solidFill>
              </a:rPr>
              <a:t>Mieter</a:t>
            </a:r>
            <a:r>
              <a:rPr sz="1000" b="0" i="0" dirty="0">
                <a:solidFill>
                  <a:srgbClr val="222233"/>
                </a:solidFill>
              </a:rPr>
              <a:t> fallen </a:t>
            </a:r>
            <a:r>
              <a:rPr sz="1000" b="0" i="0" dirty="0" err="1">
                <a:solidFill>
                  <a:srgbClr val="222233"/>
                </a:solidFill>
              </a:rPr>
              <a:t>mehr</a:t>
            </a:r>
            <a:r>
              <a:rPr sz="1000" b="0" i="0" dirty="0">
                <a:solidFill>
                  <a:srgbClr val="222233"/>
                </a:solidFill>
              </a:rPr>
              <a:t> </a:t>
            </a:r>
            <a:r>
              <a:rPr sz="1000" b="0" i="0" dirty="0" err="1">
                <a:solidFill>
                  <a:srgbClr val="222233"/>
                </a:solidFill>
              </a:rPr>
              <a:t>als</a:t>
            </a:r>
            <a:r>
              <a:rPr sz="1000" b="0" i="0" dirty="0">
                <a:solidFill>
                  <a:srgbClr val="222233"/>
                </a:solidFill>
              </a:rPr>
              <a:t> </a:t>
            </a:r>
            <a:r>
              <a:rPr sz="1000" b="0" i="0" dirty="0" err="1">
                <a:solidFill>
                  <a:srgbClr val="222233"/>
                </a:solidFill>
              </a:rPr>
              <a:t>viermal</a:t>
            </a:r>
            <a:r>
              <a:rPr sz="1000" b="0" i="0" dirty="0">
                <a:solidFill>
                  <a:srgbClr val="222233"/>
                </a:solidFill>
              </a:rPr>
              <a:t> so </a:t>
            </a:r>
            <a:r>
              <a:rPr sz="1000" b="0" i="0" dirty="0" err="1">
                <a:solidFill>
                  <a:srgbClr val="222233"/>
                </a:solidFill>
              </a:rPr>
              <a:t>häufig</a:t>
            </a:r>
            <a:r>
              <a:rPr sz="1000" b="0" i="0" dirty="0">
                <a:solidFill>
                  <a:srgbClr val="222233"/>
                </a:solidFill>
              </a:rPr>
              <a:t> </a:t>
            </a:r>
            <a:r>
              <a:rPr sz="1000" b="0" i="0" dirty="0" err="1">
                <a:solidFill>
                  <a:srgbClr val="222233"/>
                </a:solidFill>
              </a:rPr>
              <a:t>aus</a:t>
            </a:r>
            <a:r>
              <a:rPr sz="1000" b="0" i="0" dirty="0">
                <a:solidFill>
                  <a:srgbClr val="222233"/>
                </a:solidFill>
              </a:rPr>
              <a:t> </a:t>
            </a:r>
            <a:r>
              <a:rPr sz="1000" b="0" i="0" dirty="0" err="1">
                <a:solidFill>
                  <a:srgbClr val="222233"/>
                </a:solidFill>
              </a:rPr>
              <a:t>wie</a:t>
            </a:r>
            <a:r>
              <a:rPr sz="1000" b="0" i="0" dirty="0">
                <a:solidFill>
                  <a:srgbClr val="222233"/>
                </a:solidFill>
              </a:rPr>
              <a:t> </a:t>
            </a:r>
            <a:r>
              <a:rPr sz="1000" b="0" i="0" dirty="0" err="1">
                <a:solidFill>
                  <a:srgbClr val="222233"/>
                </a:solidFill>
              </a:rPr>
              <a:t>Eigentümer</a:t>
            </a:r>
            <a:r>
              <a:rPr sz="1000" b="0" i="0" dirty="0">
                <a:solidFill>
                  <a:srgbClr val="222233"/>
                </a:solidFill>
              </a:rPr>
              <a:t> (31,57 % vs. 7,47 %). </a:t>
            </a:r>
            <a:r>
              <a:rPr sz="1000" b="0" i="0" dirty="0" err="1">
                <a:solidFill>
                  <a:srgbClr val="222233"/>
                </a:solidFill>
              </a:rPr>
              <a:t>Wohnsituation</a:t>
            </a:r>
            <a:r>
              <a:rPr sz="1000" b="0" i="0" dirty="0">
                <a:solidFill>
                  <a:srgbClr val="222233"/>
                </a:solidFill>
              </a:rPr>
              <a:t> </a:t>
            </a:r>
            <a:r>
              <a:rPr sz="1000" b="0" i="0" dirty="0" err="1">
                <a:solidFill>
                  <a:srgbClr val="222233"/>
                </a:solidFill>
              </a:rPr>
              <a:t>ist</a:t>
            </a:r>
            <a:r>
              <a:rPr sz="1000" b="0" i="0" dirty="0">
                <a:solidFill>
                  <a:srgbClr val="222233"/>
                </a:solidFill>
              </a:rPr>
              <a:t> </a:t>
            </a:r>
            <a:r>
              <a:rPr sz="1000" b="0" i="0" dirty="0" err="1">
                <a:solidFill>
                  <a:srgbClr val="222233"/>
                </a:solidFill>
              </a:rPr>
              <a:t>ein</a:t>
            </a:r>
            <a:r>
              <a:rPr sz="1000" b="0" i="0" dirty="0">
                <a:solidFill>
                  <a:srgbClr val="222233"/>
                </a:solidFill>
              </a:rPr>
              <a:t> </a:t>
            </a:r>
            <a:r>
              <a:rPr sz="1000" b="0" i="0" dirty="0" err="1">
                <a:solidFill>
                  <a:srgbClr val="222233"/>
                </a:solidFill>
              </a:rPr>
              <a:t>bisher</a:t>
            </a:r>
            <a:r>
              <a:rPr sz="1000" b="0" i="0" dirty="0">
                <a:solidFill>
                  <a:srgbClr val="222233"/>
                </a:solidFill>
              </a:rPr>
              <a:t> </a:t>
            </a:r>
            <a:r>
              <a:rPr sz="1000" b="0" i="0" dirty="0" err="1">
                <a:solidFill>
                  <a:srgbClr val="222233"/>
                </a:solidFill>
              </a:rPr>
              <a:t>unterschätzter</a:t>
            </a:r>
            <a:r>
              <a:rPr sz="1000" b="0" i="0" dirty="0">
                <a:solidFill>
                  <a:srgbClr val="222233"/>
                </a:solidFill>
              </a:rPr>
              <a:t> </a:t>
            </a:r>
            <a:r>
              <a:rPr sz="1000" b="0" i="0" dirty="0" err="1">
                <a:solidFill>
                  <a:srgbClr val="222233"/>
                </a:solidFill>
              </a:rPr>
              <a:t>Risikofaktor</a:t>
            </a:r>
            <a:r>
              <a:rPr sz="1000" b="0" i="0" dirty="0">
                <a:solidFill>
                  <a:srgbClr val="222233"/>
                </a:solidFill>
              </a:rPr>
              <a:t>.</a:t>
            </a:r>
          </a:p>
        </p:txBody>
      </p:sp>
      <p:sp>
        <p:nvSpPr>
          <p:cNvPr id="2" name="Shape 0"/>
          <p:cNvSpPr/>
          <p:nvPr/>
        </p:nvSpPr>
        <p:spPr>
          <a:xfrm>
            <a:off x="384048" y="164592"/>
            <a:ext cx="50292" cy="658368"/>
          </a:xfrm>
          <a:prstGeom prst="rect">
            <a:avLst/>
          </a:prstGeom>
          <a:solidFill>
            <a:srgbClr val="D4541A"/>
          </a:solidFill>
          <a:ln w="12700">
            <a:solidFill>
              <a:srgbClr val="D454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30352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Weitere Risikotreiber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6400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D4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Wohnsituation und </a:t>
            </a:r>
            <a:r>
              <a:rPr lang="en-US" sz="1050" i="1" dirty="0" err="1">
                <a:solidFill>
                  <a:srgbClr val="D4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Kreditzweck</a:t>
            </a:r>
            <a:r>
              <a:rPr lang="en-US" sz="1050" i="1" dirty="0">
                <a:solidFill>
                  <a:srgbClr val="D4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i="1" dirty="0" err="1">
                <a:solidFill>
                  <a:srgbClr val="D4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</a:t>
            </a:r>
            <a:r>
              <a:rPr lang="en-US" sz="1050" i="1" dirty="0">
                <a:solidFill>
                  <a:srgbClr val="D4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i="1" dirty="0" err="1">
                <a:solidFill>
                  <a:srgbClr val="D4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eigenständige</a:t>
            </a:r>
            <a:r>
              <a:rPr lang="en-US" sz="1050" i="1" dirty="0">
                <a:solidFill>
                  <a:srgbClr val="D4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i="1" dirty="0" err="1">
                <a:solidFill>
                  <a:srgbClr val="D4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Risikosignale</a:t>
            </a:r>
            <a:r>
              <a:rPr lang="en-US" sz="1050" i="1" dirty="0">
                <a:solidFill>
                  <a:srgbClr val="D4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84048" y="868680"/>
            <a:ext cx="8375904" cy="18288"/>
          </a:xfrm>
          <a:prstGeom prst="rect">
            <a:avLst/>
          </a:prstGeom>
          <a:solidFill>
            <a:srgbClr val="EDE9E3"/>
          </a:solidFill>
          <a:ln w="12700">
            <a:solidFill>
              <a:srgbClr val="EDE9E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384048" y="1024128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 err="1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Wohnsituation</a:t>
            </a:r>
            <a:r>
              <a:rPr lang="en-US" sz="12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– </a:t>
            </a:r>
            <a:r>
              <a:rPr lang="en-US" sz="1250" b="1" dirty="0" err="1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Ausfallquote</a:t>
            </a:r>
            <a:r>
              <a:rPr lang="en-US" sz="12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250" b="1" dirty="0" err="1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</a:t>
            </a:r>
            <a:r>
              <a:rPr lang="en-US" sz="12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250" b="1" dirty="0" err="1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Vergleich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754880" y="1024128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Kreditzweck – Top 3 Ausfallquoten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731428" y="4096513"/>
            <a:ext cx="4005072" cy="932687"/>
          </a:xfrm>
          <a:prstGeom prst="roundRect">
            <a:avLst>
              <a:gd name="adj" fmla="val 11538"/>
            </a:avLst>
          </a:prstGeom>
          <a:solidFill>
            <a:srgbClr val="FBF2E4"/>
          </a:solidFill>
          <a:ln w="6350">
            <a:solidFill>
              <a:srgbClr val="EDE9E3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Text 10"/>
          <p:cNvSpPr/>
          <p:nvPr/>
        </p:nvSpPr>
        <p:spPr>
          <a:xfrm>
            <a:off x="8229600" y="486460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15</a:t>
            </a:r>
            <a:endParaRPr lang="en-US" sz="900" dirty="0"/>
          </a:p>
        </p:txBody>
      </p:sp>
      <p:sp>
        <p:nvSpPr>
          <p:cNvPr id="21" name="TextBox 17">
            <a:extLst>
              <a:ext uri="{FF2B5EF4-FFF2-40B4-BE49-F238E27FC236}">
                <a16:creationId xmlns:a16="http://schemas.microsoft.com/office/drawing/2014/main" id="{B4C233F8-AC68-2A1F-08A1-2FDB908F4259}"/>
              </a:ext>
            </a:extLst>
          </p:cNvPr>
          <p:cNvSpPr txBox="1"/>
          <p:nvPr/>
        </p:nvSpPr>
        <p:spPr>
          <a:xfrm>
            <a:off x="4791052" y="4199290"/>
            <a:ext cx="38472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F46C1A"/>
                </a:solidFill>
              </a:rPr>
              <a:t>🎯  </a:t>
            </a:r>
            <a:r>
              <a:rPr sz="1200" b="1" i="0" dirty="0" err="1">
                <a:solidFill>
                  <a:srgbClr val="F46C1A"/>
                </a:solidFill>
              </a:rPr>
              <a:t>Kreditzweck</a:t>
            </a:r>
            <a:endParaRPr sz="1200" b="1" i="0" dirty="0">
              <a:solidFill>
                <a:srgbClr val="F46C1A"/>
              </a:solidFill>
            </a:endParaRPr>
          </a:p>
        </p:txBody>
      </p:sp>
      <p:sp>
        <p:nvSpPr>
          <p:cNvPr id="22" name="TextBox 18">
            <a:extLst>
              <a:ext uri="{FF2B5EF4-FFF2-40B4-BE49-F238E27FC236}">
                <a16:creationId xmlns:a16="http://schemas.microsoft.com/office/drawing/2014/main" id="{4C517408-CB20-76EA-910D-1771F36CA967}"/>
              </a:ext>
            </a:extLst>
          </p:cNvPr>
          <p:cNvSpPr txBox="1"/>
          <p:nvPr/>
        </p:nvSpPr>
        <p:spPr>
          <a:xfrm>
            <a:off x="4791052" y="4533735"/>
            <a:ext cx="39454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 dirty="0" err="1">
                <a:solidFill>
                  <a:srgbClr val="222233"/>
                </a:solidFill>
              </a:rPr>
              <a:t>Schuldenkonsolidierung</a:t>
            </a:r>
            <a:r>
              <a:rPr sz="1000" b="0" i="0" dirty="0">
                <a:solidFill>
                  <a:srgbClr val="222233"/>
                </a:solidFill>
              </a:rPr>
              <a:t> hat die </a:t>
            </a:r>
            <a:r>
              <a:rPr sz="1000" b="0" i="0" dirty="0" err="1">
                <a:solidFill>
                  <a:srgbClr val="222233"/>
                </a:solidFill>
              </a:rPr>
              <a:t>höchste</a:t>
            </a:r>
            <a:r>
              <a:rPr sz="1000" b="0" i="0" dirty="0">
                <a:solidFill>
                  <a:srgbClr val="222233"/>
                </a:solidFill>
              </a:rPr>
              <a:t> </a:t>
            </a:r>
            <a:r>
              <a:rPr sz="1000" b="0" i="0" dirty="0" err="1">
                <a:solidFill>
                  <a:srgbClr val="222233"/>
                </a:solidFill>
              </a:rPr>
              <a:t>Ausfallquote</a:t>
            </a:r>
            <a:r>
              <a:rPr lang="de-DE" sz="1000" dirty="0"/>
              <a:t> und deutet häufig auf bereits bestehende finanzielle Belastungen hin.</a:t>
            </a:r>
            <a:endParaRPr sz="1000" b="0" i="0" dirty="0">
              <a:solidFill>
                <a:srgbClr val="222233"/>
              </a:solidFill>
            </a:endParaRPr>
          </a:p>
        </p:txBody>
      </p:sp>
      <p:sp>
        <p:nvSpPr>
          <p:cNvPr id="42" name="Shape 5">
            <a:extLst>
              <a:ext uri="{FF2B5EF4-FFF2-40B4-BE49-F238E27FC236}">
                <a16:creationId xmlns:a16="http://schemas.microsoft.com/office/drawing/2014/main" id="{FF3050AC-3DAB-A3E9-473E-46D94AC5C246}"/>
              </a:ext>
            </a:extLst>
          </p:cNvPr>
          <p:cNvSpPr/>
          <p:nvPr/>
        </p:nvSpPr>
        <p:spPr>
          <a:xfrm>
            <a:off x="384048" y="1371600"/>
            <a:ext cx="4160520" cy="804672"/>
          </a:xfrm>
          <a:prstGeom prst="roundRect">
            <a:avLst>
              <a:gd name="adj" fmla="val 10227"/>
            </a:avLst>
          </a:prstGeom>
          <a:noFill/>
          <a:ln w="6350">
            <a:solidFill>
              <a:srgbClr val="EDE9E3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3" name="Shape 6">
            <a:extLst>
              <a:ext uri="{FF2B5EF4-FFF2-40B4-BE49-F238E27FC236}">
                <a16:creationId xmlns:a16="http://schemas.microsoft.com/office/drawing/2014/main" id="{C75C4A6E-627B-2B44-E625-2A6DEFEF3FB1}"/>
              </a:ext>
            </a:extLst>
          </p:cNvPr>
          <p:cNvSpPr/>
          <p:nvPr/>
        </p:nvSpPr>
        <p:spPr>
          <a:xfrm>
            <a:off x="384048" y="1371600"/>
            <a:ext cx="164592" cy="804672"/>
          </a:xfrm>
          <a:prstGeom prst="roundRect">
            <a:avLst>
              <a:gd name="adj" fmla="val 33333"/>
            </a:avLst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4" name="Text 7">
            <a:extLst>
              <a:ext uri="{FF2B5EF4-FFF2-40B4-BE49-F238E27FC236}">
                <a16:creationId xmlns:a16="http://schemas.microsoft.com/office/drawing/2014/main" id="{382850C0-C752-5C16-0494-50DF64ED5287}"/>
              </a:ext>
            </a:extLst>
          </p:cNvPr>
          <p:cNvSpPr/>
          <p:nvPr/>
        </p:nvSpPr>
        <p:spPr>
          <a:xfrm>
            <a:off x="640080" y="1463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Eigentümer (OWN)</a:t>
            </a:r>
            <a:endParaRPr lang="en-US" sz="1100" dirty="0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63DAB5B3-0A73-CE36-7A55-06C2723AC5B3}"/>
              </a:ext>
            </a:extLst>
          </p:cNvPr>
          <p:cNvSpPr/>
          <p:nvPr/>
        </p:nvSpPr>
        <p:spPr>
          <a:xfrm>
            <a:off x="3021330" y="1426464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1A6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7,47 %</a:t>
            </a:r>
            <a:endParaRPr lang="en-US" sz="2400" dirty="0"/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65068873-72FD-1D49-3C8D-648A6184922C}"/>
              </a:ext>
            </a:extLst>
          </p:cNvPr>
          <p:cNvSpPr/>
          <p:nvPr/>
        </p:nvSpPr>
        <p:spPr>
          <a:xfrm>
            <a:off x="3835400" y="1847088"/>
            <a:ext cx="6426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Ausfallquote</a:t>
            </a:r>
            <a:endParaRPr lang="en-US" sz="700" dirty="0"/>
          </a:p>
        </p:txBody>
      </p:sp>
      <p:sp>
        <p:nvSpPr>
          <p:cNvPr id="47" name="Shape 10">
            <a:extLst>
              <a:ext uri="{FF2B5EF4-FFF2-40B4-BE49-F238E27FC236}">
                <a16:creationId xmlns:a16="http://schemas.microsoft.com/office/drawing/2014/main" id="{0A42B789-70C9-A077-4F18-DB16E54143F4}"/>
              </a:ext>
            </a:extLst>
          </p:cNvPr>
          <p:cNvSpPr/>
          <p:nvPr/>
        </p:nvSpPr>
        <p:spPr>
          <a:xfrm>
            <a:off x="640080" y="1865376"/>
            <a:ext cx="804672" cy="164592"/>
          </a:xfrm>
          <a:prstGeom prst="roundRect">
            <a:avLst>
              <a:gd name="adj" fmla="val 22222"/>
            </a:avLst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8" name="Shape 11">
            <a:extLst>
              <a:ext uri="{FF2B5EF4-FFF2-40B4-BE49-F238E27FC236}">
                <a16:creationId xmlns:a16="http://schemas.microsoft.com/office/drawing/2014/main" id="{81583602-3426-B83F-C339-154EC6389558}"/>
              </a:ext>
            </a:extLst>
          </p:cNvPr>
          <p:cNvSpPr/>
          <p:nvPr/>
        </p:nvSpPr>
        <p:spPr>
          <a:xfrm>
            <a:off x="384048" y="2267712"/>
            <a:ext cx="4160520" cy="804672"/>
          </a:xfrm>
          <a:prstGeom prst="roundRect">
            <a:avLst>
              <a:gd name="adj" fmla="val 10227"/>
            </a:avLst>
          </a:prstGeom>
          <a:solidFill>
            <a:srgbClr val="FBF2E4"/>
          </a:solidFill>
          <a:ln w="6350">
            <a:solidFill>
              <a:srgbClr val="EDE9E3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9" name="Shape 12">
            <a:extLst>
              <a:ext uri="{FF2B5EF4-FFF2-40B4-BE49-F238E27FC236}">
                <a16:creationId xmlns:a16="http://schemas.microsoft.com/office/drawing/2014/main" id="{0A7A1D24-1DE7-504D-4AE0-C1AAC57D351A}"/>
              </a:ext>
            </a:extLst>
          </p:cNvPr>
          <p:cNvSpPr/>
          <p:nvPr/>
        </p:nvSpPr>
        <p:spPr>
          <a:xfrm>
            <a:off x="384048" y="2267712"/>
            <a:ext cx="164592" cy="804672"/>
          </a:xfrm>
          <a:prstGeom prst="roundRect">
            <a:avLst>
              <a:gd name="adj" fmla="val 33333"/>
            </a:avLst>
          </a:prstGeom>
          <a:solidFill>
            <a:srgbClr val="B86A00"/>
          </a:solidFill>
          <a:ln w="12700">
            <a:solidFill>
              <a:srgbClr val="B86A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0" name="Text 13">
            <a:extLst>
              <a:ext uri="{FF2B5EF4-FFF2-40B4-BE49-F238E27FC236}">
                <a16:creationId xmlns:a16="http://schemas.microsoft.com/office/drawing/2014/main" id="{7FBAF0EE-D2F3-4AB1-616E-5B7ECA397FF7}"/>
              </a:ext>
            </a:extLst>
          </p:cNvPr>
          <p:cNvSpPr/>
          <p:nvPr/>
        </p:nvSpPr>
        <p:spPr>
          <a:xfrm>
            <a:off x="640080" y="23591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Hypothek (MORTGAGE)</a:t>
            </a:r>
            <a:endParaRPr lang="en-US" sz="1100" dirty="0"/>
          </a:p>
        </p:txBody>
      </p:sp>
      <p:sp>
        <p:nvSpPr>
          <p:cNvPr id="51" name="Text 14">
            <a:extLst>
              <a:ext uri="{FF2B5EF4-FFF2-40B4-BE49-F238E27FC236}">
                <a16:creationId xmlns:a16="http://schemas.microsoft.com/office/drawing/2014/main" id="{B1F38591-5FDA-6807-B1E6-DFA4D73DBDA5}"/>
              </a:ext>
            </a:extLst>
          </p:cNvPr>
          <p:cNvSpPr/>
          <p:nvPr/>
        </p:nvSpPr>
        <p:spPr>
          <a:xfrm>
            <a:off x="3021330" y="2322576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B86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12,57 %</a:t>
            </a:r>
            <a:endParaRPr lang="en-US" sz="2400" dirty="0"/>
          </a:p>
        </p:txBody>
      </p:sp>
      <p:sp>
        <p:nvSpPr>
          <p:cNvPr id="52" name="Text 15">
            <a:extLst>
              <a:ext uri="{FF2B5EF4-FFF2-40B4-BE49-F238E27FC236}">
                <a16:creationId xmlns:a16="http://schemas.microsoft.com/office/drawing/2014/main" id="{74346DD1-016B-F959-D515-B6867E0989C3}"/>
              </a:ext>
            </a:extLst>
          </p:cNvPr>
          <p:cNvSpPr/>
          <p:nvPr/>
        </p:nvSpPr>
        <p:spPr>
          <a:xfrm>
            <a:off x="3784600" y="2743200"/>
            <a:ext cx="6934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Ausfallquote</a:t>
            </a:r>
            <a:endParaRPr lang="en-US" sz="700" dirty="0"/>
          </a:p>
        </p:txBody>
      </p:sp>
      <p:sp>
        <p:nvSpPr>
          <p:cNvPr id="53" name="Shape 16">
            <a:extLst>
              <a:ext uri="{FF2B5EF4-FFF2-40B4-BE49-F238E27FC236}">
                <a16:creationId xmlns:a16="http://schemas.microsoft.com/office/drawing/2014/main" id="{B047DF8A-CE62-9EC6-7FBB-F0C9EAE6875B}"/>
              </a:ext>
            </a:extLst>
          </p:cNvPr>
          <p:cNvSpPr/>
          <p:nvPr/>
        </p:nvSpPr>
        <p:spPr>
          <a:xfrm>
            <a:off x="640080" y="2761488"/>
            <a:ext cx="1353312" cy="164592"/>
          </a:xfrm>
          <a:prstGeom prst="roundRect">
            <a:avLst>
              <a:gd name="adj" fmla="val 22222"/>
            </a:avLst>
          </a:prstGeom>
          <a:solidFill>
            <a:srgbClr val="B86A00"/>
          </a:solidFill>
          <a:ln w="12700">
            <a:solidFill>
              <a:srgbClr val="B86A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4" name="Shape 17">
            <a:extLst>
              <a:ext uri="{FF2B5EF4-FFF2-40B4-BE49-F238E27FC236}">
                <a16:creationId xmlns:a16="http://schemas.microsoft.com/office/drawing/2014/main" id="{06BC1624-0EA9-B30B-F6B1-844DD16C85D0}"/>
              </a:ext>
            </a:extLst>
          </p:cNvPr>
          <p:cNvSpPr/>
          <p:nvPr/>
        </p:nvSpPr>
        <p:spPr>
          <a:xfrm>
            <a:off x="384048" y="3163824"/>
            <a:ext cx="4160520" cy="804672"/>
          </a:xfrm>
          <a:prstGeom prst="roundRect">
            <a:avLst>
              <a:gd name="adj" fmla="val 10227"/>
            </a:avLst>
          </a:prstGeom>
          <a:solidFill>
            <a:srgbClr val="FBEAE8"/>
          </a:solidFill>
          <a:ln w="6350">
            <a:solidFill>
              <a:srgbClr val="EDE9E3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5" name="Shape 18">
            <a:extLst>
              <a:ext uri="{FF2B5EF4-FFF2-40B4-BE49-F238E27FC236}">
                <a16:creationId xmlns:a16="http://schemas.microsoft.com/office/drawing/2014/main" id="{6E279F3B-5808-890A-6B5F-C552235A7E57}"/>
              </a:ext>
            </a:extLst>
          </p:cNvPr>
          <p:cNvSpPr/>
          <p:nvPr/>
        </p:nvSpPr>
        <p:spPr>
          <a:xfrm>
            <a:off x="384048" y="3163824"/>
            <a:ext cx="164592" cy="804672"/>
          </a:xfrm>
          <a:prstGeom prst="roundRect">
            <a:avLst>
              <a:gd name="adj" fmla="val 33333"/>
            </a:avLst>
          </a:prstGeom>
          <a:solidFill>
            <a:srgbClr val="B83225"/>
          </a:solidFill>
          <a:ln w="12700">
            <a:solidFill>
              <a:srgbClr val="B8322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6" name="Text 19">
            <a:extLst>
              <a:ext uri="{FF2B5EF4-FFF2-40B4-BE49-F238E27FC236}">
                <a16:creationId xmlns:a16="http://schemas.microsoft.com/office/drawing/2014/main" id="{2A6B1772-454D-6F9C-335D-861F68A9B05B}"/>
              </a:ext>
            </a:extLst>
          </p:cNvPr>
          <p:cNvSpPr/>
          <p:nvPr/>
        </p:nvSpPr>
        <p:spPr>
          <a:xfrm>
            <a:off x="640080" y="32552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Mieter (RENT)</a:t>
            </a:r>
            <a:endParaRPr lang="en-US" sz="1100" dirty="0"/>
          </a:p>
        </p:txBody>
      </p:sp>
      <p:sp>
        <p:nvSpPr>
          <p:cNvPr id="57" name="Text 20">
            <a:extLst>
              <a:ext uri="{FF2B5EF4-FFF2-40B4-BE49-F238E27FC236}">
                <a16:creationId xmlns:a16="http://schemas.microsoft.com/office/drawing/2014/main" id="{F25DC6DF-62DE-96F2-BD7D-F9D2087D8C37}"/>
              </a:ext>
            </a:extLst>
          </p:cNvPr>
          <p:cNvSpPr/>
          <p:nvPr/>
        </p:nvSpPr>
        <p:spPr>
          <a:xfrm>
            <a:off x="3021330" y="321868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B83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31,57 %</a:t>
            </a:r>
            <a:endParaRPr lang="en-US" sz="2400" dirty="0"/>
          </a:p>
        </p:txBody>
      </p:sp>
      <p:sp>
        <p:nvSpPr>
          <p:cNvPr id="58" name="Text 21">
            <a:extLst>
              <a:ext uri="{FF2B5EF4-FFF2-40B4-BE49-F238E27FC236}">
                <a16:creationId xmlns:a16="http://schemas.microsoft.com/office/drawing/2014/main" id="{F455B9C5-375E-06F8-0DA3-F08A963C06D1}"/>
              </a:ext>
            </a:extLst>
          </p:cNvPr>
          <p:cNvSpPr/>
          <p:nvPr/>
        </p:nvSpPr>
        <p:spPr>
          <a:xfrm>
            <a:off x="3962400" y="3639312"/>
            <a:ext cx="5156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Ausfallquote</a:t>
            </a:r>
            <a:endParaRPr lang="en-US" sz="700" dirty="0"/>
          </a:p>
        </p:txBody>
      </p:sp>
      <p:sp>
        <p:nvSpPr>
          <p:cNvPr id="59" name="Shape 22">
            <a:extLst>
              <a:ext uri="{FF2B5EF4-FFF2-40B4-BE49-F238E27FC236}">
                <a16:creationId xmlns:a16="http://schemas.microsoft.com/office/drawing/2014/main" id="{5189180B-1FFB-7572-4DE4-9C068EB09061}"/>
              </a:ext>
            </a:extLst>
          </p:cNvPr>
          <p:cNvSpPr/>
          <p:nvPr/>
        </p:nvSpPr>
        <p:spPr>
          <a:xfrm>
            <a:off x="640080" y="3657600"/>
            <a:ext cx="3284220" cy="164592"/>
          </a:xfrm>
          <a:prstGeom prst="roundRect">
            <a:avLst>
              <a:gd name="adj" fmla="val 22222"/>
            </a:avLst>
          </a:prstGeom>
          <a:solidFill>
            <a:srgbClr val="B83225"/>
          </a:solidFill>
          <a:ln w="12700">
            <a:solidFill>
              <a:srgbClr val="B8322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graphicFrame>
        <p:nvGraphicFramePr>
          <p:cNvPr id="61" name="Chart 0">
            <a:extLst>
              <a:ext uri="{FF2B5EF4-FFF2-40B4-BE49-F238E27FC236}">
                <a16:creationId xmlns:a16="http://schemas.microsoft.com/office/drawing/2014/main" id="{CFB03692-6456-804C-3C3A-972D3FF91A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49065838"/>
              </p:ext>
            </p:extLst>
          </p:nvPr>
        </p:nvGraphicFramePr>
        <p:xfrm>
          <a:off x="4754880" y="1325880"/>
          <a:ext cx="4005072" cy="26426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64592"/>
            <a:ext cx="50292" cy="658368"/>
          </a:xfrm>
          <a:prstGeom prst="rect">
            <a:avLst/>
          </a:prstGeom>
          <a:solidFill>
            <a:srgbClr val="D4541A"/>
          </a:solidFill>
          <a:ln w="12700">
            <a:solidFill>
              <a:srgbClr val="D454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30352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Risikoklassifizierung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6400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D4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Grenzwerte direkt aus den beobachteten Ausfallquoten abgeleitet — keine subjektive Festlegung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84048" y="868680"/>
            <a:ext cx="8375904" cy="18288"/>
          </a:xfrm>
          <a:prstGeom prst="rect">
            <a:avLst/>
          </a:prstGeom>
          <a:solidFill>
            <a:srgbClr val="EDE9E3"/>
          </a:solidFill>
          <a:ln w="12700">
            <a:solidFill>
              <a:srgbClr val="EDE9E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384048" y="1005840"/>
            <a:ext cx="2761488" cy="3931920"/>
          </a:xfrm>
          <a:prstGeom prst="roundRect">
            <a:avLst>
              <a:gd name="adj" fmla="val 2980"/>
            </a:avLst>
          </a:prstGeom>
          <a:solidFill>
            <a:srgbClr val="FBEAE8"/>
          </a:solidFill>
          <a:ln w="6350">
            <a:solidFill>
              <a:srgbClr val="EDE9E3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384048" y="1005840"/>
            <a:ext cx="2761488" cy="640080"/>
          </a:xfrm>
          <a:prstGeom prst="roundRect">
            <a:avLst>
              <a:gd name="adj" fmla="val 12857"/>
            </a:avLst>
          </a:prstGeom>
          <a:solidFill>
            <a:srgbClr val="B83225"/>
          </a:solidFill>
          <a:ln w="12700">
            <a:solidFill>
              <a:srgbClr val="B8322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512064" y="1133856"/>
            <a:ext cx="384048" cy="384048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950976" y="1133856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Hohes Risiko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93776" y="1755648"/>
            <a:ext cx="2542032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6350">
            <a:solidFill>
              <a:srgbClr val="EDE9E3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585216" y="1810512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Einkommensanteil &gt; 50 %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85216" y="2048256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832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Ausfallquote 70–100 %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3776" y="3054096"/>
            <a:ext cx="2542032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6350">
            <a:solidFill>
              <a:srgbClr val="EDE9E3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585216" y="310896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Loan Grade D, E, F oder 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85216" y="3346704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832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Ausfallquote 59–98 %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" y="4462272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starker Faktor allein genügt.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374136" y="1005840"/>
            <a:ext cx="2761488" cy="3931920"/>
          </a:xfrm>
          <a:prstGeom prst="roundRect">
            <a:avLst>
              <a:gd name="adj" fmla="val 2980"/>
            </a:avLst>
          </a:prstGeom>
          <a:solidFill>
            <a:srgbClr val="FBF2E4"/>
          </a:solidFill>
          <a:ln w="6350">
            <a:solidFill>
              <a:srgbClr val="EDE9E3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8" name="Shape 16"/>
          <p:cNvSpPr/>
          <p:nvPr/>
        </p:nvSpPr>
        <p:spPr>
          <a:xfrm>
            <a:off x="3374136" y="1005840"/>
            <a:ext cx="2761488" cy="640080"/>
          </a:xfrm>
          <a:prstGeom prst="roundRect">
            <a:avLst>
              <a:gd name="adj" fmla="val 12857"/>
            </a:avLst>
          </a:prstGeom>
          <a:solidFill>
            <a:srgbClr val="B86A00"/>
          </a:solidFill>
          <a:ln w="12700">
            <a:solidFill>
              <a:srgbClr val="B86A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3502152" y="1133856"/>
            <a:ext cx="384048" cy="384048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3941064" y="1133856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Mittleres Risiko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83864" y="1755648"/>
            <a:ext cx="2542032" cy="57607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DE9E3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3575304" y="1810512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Loan Grade C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575304" y="2048256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8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Ausfallquote 20,74 %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83864" y="2404872"/>
            <a:ext cx="2542032" cy="57607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DE9E3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3575304" y="2459736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Wohnsituation: RENT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575304" y="2697480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8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Ausfallquote 31,57 %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83864" y="3054096"/>
            <a:ext cx="2542032" cy="57607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DE9E3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3575304" y="3108960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r>
              <a:rPr lang="en-US" sz="1050" dirty="0" err="1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Kreditzweck</a:t>
            </a: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050" dirty="0" err="1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Schuldenkonsolidierung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575304" y="3346704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8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Ausfallquote 28,59 %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83864" y="3703320"/>
            <a:ext cx="2542032" cy="57607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6350">
            <a:solidFill>
              <a:srgbClr val="EDE9E3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>
            <a:off x="3575304" y="3758184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Frühere Zahlungsausfälle (Y)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575304" y="3995928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8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Erhöhtes Rückfallrisiko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483864" y="4462272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Kein starker Faktor, mind. ein mittlerer.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364224" y="1005840"/>
            <a:ext cx="2761488" cy="3931920"/>
          </a:xfrm>
          <a:prstGeom prst="roundRect">
            <a:avLst>
              <a:gd name="adj" fmla="val 2980"/>
            </a:avLst>
          </a:prstGeom>
          <a:solidFill>
            <a:srgbClr val="E4F2EB"/>
          </a:solidFill>
          <a:ln w="6350">
            <a:solidFill>
              <a:srgbClr val="EDE9E3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5" name="Shape 33"/>
          <p:cNvSpPr/>
          <p:nvPr/>
        </p:nvSpPr>
        <p:spPr>
          <a:xfrm>
            <a:off x="6364224" y="1005840"/>
            <a:ext cx="2761488" cy="640080"/>
          </a:xfrm>
          <a:prstGeom prst="roundRect">
            <a:avLst>
              <a:gd name="adj" fmla="val 12857"/>
            </a:avLst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6" name="Shape 34"/>
          <p:cNvSpPr/>
          <p:nvPr/>
        </p:nvSpPr>
        <p:spPr>
          <a:xfrm>
            <a:off x="6492240" y="1133856"/>
            <a:ext cx="384048" cy="384048"/>
          </a:xfrm>
          <a:prstGeom prst="ellipse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Text 35"/>
          <p:cNvSpPr/>
          <p:nvPr/>
        </p:nvSpPr>
        <p:spPr>
          <a:xfrm>
            <a:off x="6931152" y="1133856"/>
            <a:ext cx="2084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Niedriges Risiko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473952" y="1755648"/>
            <a:ext cx="2542032" cy="2519172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6350">
            <a:solidFill>
              <a:srgbClr val="EDE9E3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9" name="Text 37"/>
          <p:cNvSpPr/>
          <p:nvPr/>
        </p:nvSpPr>
        <p:spPr>
          <a:xfrm>
            <a:off x="6619171" y="1730309"/>
            <a:ext cx="2359152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r>
              <a:rPr lang="de-DE" sz="1050" b="1" dirty="0">
                <a:latin typeface="Arial" panose="020B0604020202020204" pitchFamily="34" charset="0"/>
                <a:cs typeface="Arial" panose="020B0604020202020204" pitchFamily="34" charset="0"/>
              </a:rPr>
              <a:t>Kein Risikofaktor identifiziert.</a:t>
            </a:r>
            <a:br>
              <a:rPr lang="de-DE" sz="105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50" dirty="0">
                <a:latin typeface="Arial" panose="020B0604020202020204" pitchFamily="34" charset="0"/>
                <a:cs typeface="Arial" panose="020B0604020202020204" pitchFamily="34" charset="0"/>
              </a:rPr>
              <a:t>Wer keines der beiden anderen Warnsignale trägt, gilt automatisch als niedriges Risiko — eine gesonderte Prüfung ist nicht notwendig.</a:t>
            </a:r>
          </a:p>
          <a:p>
            <a:endParaRPr lang="de-DE" sz="105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0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r>
              <a:rPr lang="de-DE" sz="1050" b="1" dirty="0">
                <a:latin typeface="Arial" panose="020B0604020202020204" pitchFamily="34" charset="0"/>
                <a:cs typeface="Arial" panose="020B0604020202020204" pitchFamily="34" charset="0"/>
              </a:rPr>
              <a:t>Nachträgliche Kontrolle</a:t>
            </a:r>
            <a:r>
              <a:rPr lang="de-DE" sz="105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br>
              <a:rPr lang="de-DE" sz="105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1050" dirty="0">
                <a:latin typeface="Arial" panose="020B0604020202020204" pitchFamily="34" charset="0"/>
                <a:cs typeface="Arial" panose="020B0604020202020204" pitchFamily="34" charset="0"/>
              </a:rPr>
              <a:t>Die Ausfallquote von 5,62 % — weit unter dem Portfolio-Durchschnitt von 21,82 % — bestätigt, dass diese Einschätzung richtig war.</a:t>
            </a:r>
          </a:p>
        </p:txBody>
      </p:sp>
      <p:sp>
        <p:nvSpPr>
          <p:cNvPr id="46" name="Text 44"/>
          <p:cNvSpPr/>
          <p:nvPr/>
        </p:nvSpPr>
        <p:spPr>
          <a:xfrm>
            <a:off x="8229600" y="486460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15</a:t>
            </a:r>
            <a:endParaRPr lang="en-US" sz="900" dirty="0"/>
          </a:p>
        </p:txBody>
      </p:sp>
      <p:sp>
        <p:nvSpPr>
          <p:cNvPr id="47" name="Text 31">
            <a:extLst>
              <a:ext uri="{FF2B5EF4-FFF2-40B4-BE49-F238E27FC236}">
                <a16:creationId xmlns:a16="http://schemas.microsoft.com/office/drawing/2014/main" id="{D0CB6F51-89E8-68B5-8956-9664C929CCEF}"/>
              </a:ext>
            </a:extLst>
          </p:cNvPr>
          <p:cNvSpPr/>
          <p:nvPr/>
        </p:nvSpPr>
        <p:spPr>
          <a:xfrm>
            <a:off x="6436291" y="4439025"/>
            <a:ext cx="2542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de-DE" sz="1000" i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Kein Warnsignal — kein erhöhtes Risiko</a:t>
            </a:r>
            <a:r>
              <a:rPr lang="de-DE" sz="1000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en-US" sz="95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chemeClr val="accent2">
            <a:lumMod val="20000"/>
            <a:lumOff val="80000"/>
            <a:alpha val="13996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64592"/>
            <a:ext cx="50292" cy="658368"/>
          </a:xfrm>
          <a:prstGeom prst="rect">
            <a:avLst/>
          </a:prstGeom>
          <a:solidFill>
            <a:srgbClr val="D4541A"/>
          </a:solidFill>
          <a:ln w="12700">
            <a:solidFill>
              <a:srgbClr val="D454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30352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Ergebnis der Risikoklassifizierung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6400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D4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Klassifizierung trennt Risiko – auf einen Blick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84048" y="868680"/>
            <a:ext cx="8375904" cy="18288"/>
          </a:xfrm>
          <a:prstGeom prst="rect">
            <a:avLst/>
          </a:prstGeom>
          <a:solidFill>
            <a:srgbClr val="EDE9E3"/>
          </a:solidFill>
          <a:ln w="12700">
            <a:solidFill>
              <a:srgbClr val="EDE9E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384048" y="1005840"/>
            <a:ext cx="2651760" cy="3310128"/>
          </a:xfrm>
          <a:prstGeom prst="roundRect">
            <a:avLst>
              <a:gd name="adj" fmla="val 3103"/>
            </a:avLst>
          </a:prstGeom>
          <a:solidFill>
            <a:srgbClr val="E4F2EB"/>
          </a:solidFill>
          <a:ln w="6350">
            <a:solidFill>
              <a:srgbClr val="EDE9E3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384048" y="1005840"/>
            <a:ext cx="2651760" cy="585216"/>
          </a:xfrm>
          <a:prstGeom prst="roundRect">
            <a:avLst>
              <a:gd name="adj" fmla="val 14063"/>
            </a:avLst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NIEDRIGES RISIKO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605656"/>
            <a:ext cx="25054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A6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5,62 %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57200" y="2505445"/>
            <a:ext cx="2505456" cy="2061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Ausfallquote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9808" y="3016699"/>
            <a:ext cx="1920240" cy="18288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457200" y="3035533"/>
            <a:ext cx="25054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29,45 %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7200" y="3715189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Portfolioanteil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46120" y="1005840"/>
            <a:ext cx="2651760" cy="3310128"/>
          </a:xfrm>
          <a:prstGeom prst="roundRect">
            <a:avLst>
              <a:gd name="adj" fmla="val 3103"/>
            </a:avLst>
          </a:prstGeom>
          <a:solidFill>
            <a:srgbClr val="FBF2E4"/>
          </a:solidFill>
          <a:ln w="6350">
            <a:solidFill>
              <a:srgbClr val="EDE9E3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3246120" y="1005840"/>
            <a:ext cx="2651760" cy="585216"/>
          </a:xfrm>
          <a:prstGeom prst="roundRect">
            <a:avLst>
              <a:gd name="adj" fmla="val 14063"/>
            </a:avLst>
          </a:prstGeom>
          <a:solidFill>
            <a:srgbClr val="B86A00"/>
          </a:solidFill>
          <a:ln w="12700">
            <a:solidFill>
              <a:srgbClr val="B86A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3319272" y="1097280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MITTLERES RISIKO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19272" y="1605656"/>
            <a:ext cx="25054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B86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19,16 %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3319272" y="2505445"/>
            <a:ext cx="2505456" cy="2061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Ausfallquote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11880" y="3016699"/>
            <a:ext cx="1920240" cy="18288"/>
          </a:xfrm>
          <a:prstGeom prst="rect">
            <a:avLst/>
          </a:prstGeom>
          <a:solidFill>
            <a:srgbClr val="B86A00"/>
          </a:solidFill>
          <a:ln w="12700">
            <a:solidFill>
              <a:srgbClr val="B86A00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3319272" y="3035533"/>
            <a:ext cx="25054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54,92 %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319272" y="3715189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Portfolioanteil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08192" y="1005840"/>
            <a:ext cx="2651760" cy="3310128"/>
          </a:xfrm>
          <a:prstGeom prst="roundRect">
            <a:avLst>
              <a:gd name="adj" fmla="val 3103"/>
            </a:avLst>
          </a:prstGeom>
          <a:solidFill>
            <a:srgbClr val="FBEAE8"/>
          </a:solidFill>
          <a:ln w="6350">
            <a:solidFill>
              <a:srgbClr val="EDE9E3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3" name="Shape 21"/>
          <p:cNvSpPr/>
          <p:nvPr/>
        </p:nvSpPr>
        <p:spPr>
          <a:xfrm>
            <a:off x="6108192" y="1005840"/>
            <a:ext cx="2651760" cy="585216"/>
          </a:xfrm>
          <a:prstGeom prst="roundRect">
            <a:avLst>
              <a:gd name="adj" fmla="val 14063"/>
            </a:avLst>
          </a:prstGeom>
          <a:solidFill>
            <a:srgbClr val="B83225"/>
          </a:solidFill>
          <a:ln w="12700">
            <a:solidFill>
              <a:srgbClr val="B8322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6181344" y="1097280"/>
            <a:ext cx="2505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HOHES RISIKO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81344" y="1605656"/>
            <a:ext cx="250545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B8322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61,68 %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6181344" y="2505445"/>
            <a:ext cx="2505456" cy="2061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Ausfallquote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73952" y="3016699"/>
            <a:ext cx="1920240" cy="18288"/>
          </a:xfrm>
          <a:prstGeom prst="rect">
            <a:avLst/>
          </a:prstGeom>
          <a:solidFill>
            <a:srgbClr val="B83225"/>
          </a:solidFill>
          <a:ln w="12700">
            <a:solidFill>
              <a:srgbClr val="B83225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8" name="Text 26"/>
          <p:cNvSpPr/>
          <p:nvPr/>
        </p:nvSpPr>
        <p:spPr>
          <a:xfrm>
            <a:off x="6181344" y="3035533"/>
            <a:ext cx="25054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15,63 %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181344" y="3715189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Portfolioanteil</a:t>
            </a:r>
            <a:endParaRPr lang="en-US" sz="1100" dirty="0"/>
          </a:p>
        </p:txBody>
      </p:sp>
      <p:sp>
        <p:nvSpPr>
          <p:cNvPr id="32" name="Shape 17">
            <a:extLst>
              <a:ext uri="{FF2B5EF4-FFF2-40B4-BE49-F238E27FC236}">
                <a16:creationId xmlns:a16="http://schemas.microsoft.com/office/drawing/2014/main" id="{5F777CF0-DE90-7459-5AF0-E3E4B993E7BB}"/>
              </a:ext>
            </a:extLst>
          </p:cNvPr>
          <p:cNvSpPr/>
          <p:nvPr/>
        </p:nvSpPr>
        <p:spPr>
          <a:xfrm>
            <a:off x="384048" y="4419964"/>
            <a:ext cx="8394192" cy="658368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6350">
            <a:solidFill>
              <a:srgbClr val="EDE9E3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/>
          <p:nvPr/>
        </p:nvSpPr>
        <p:spPr>
          <a:xfrm>
            <a:off x="384048" y="4701068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de-DE" sz="900" dirty="0">
                <a:solidFill>
                  <a:schemeClr val="bg2">
                    <a:lumMod val="9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Ziel war es, realistische Grenzwerte zu finden, die sowohl das Geschäftsinteresse der Bank als auch eine angemessene Risikosteuerung berücksichtigen.</a:t>
            </a:r>
          </a:p>
          <a:p>
            <a:r>
              <a:rPr lang="de-DE" sz="900" dirty="0">
                <a:solidFill>
                  <a:schemeClr val="bg2">
                    <a:lumMod val="9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Das Ergebnis: Nur 15,63 % der Kredite fallen in die Hochrisikogruppe — die Bank bleibt handlungsfähig. Mit einer Ausfallquote von 61,68 % — mehr als dreimal so hoch wie der Portfolio-Durchschnitt — wird das Risiko dort zuverlässig erkannt. </a:t>
            </a:r>
            <a:r>
              <a:rPr lang="en-US" sz="900" dirty="0">
                <a:solidFill>
                  <a:schemeClr val="bg2">
                    <a:lumMod val="9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</a:t>
            </a:r>
            <a:r>
              <a:rPr lang="de-DE" sz="900" dirty="0">
                <a:solidFill>
                  <a:schemeClr val="bg2">
                    <a:lumMod val="9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Grenzwerte bilden die Realität des Portfolios ab</a:t>
            </a:r>
            <a:r>
              <a:rPr lang="en-US" sz="900" dirty="0">
                <a:solidFill>
                  <a:schemeClr val="bg2">
                    <a:lumMod val="90000"/>
                  </a:scheme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.</a:t>
            </a:r>
            <a:endParaRPr lang="en-US" sz="900" dirty="0">
              <a:solidFill>
                <a:schemeClr val="bg2">
                  <a:lumMod val="9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900" dirty="0">
              <a:solidFill>
                <a:schemeClr val="bg2">
                  <a:lumMod val="9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229600" y="486460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64592"/>
            <a:ext cx="50292" cy="658368"/>
          </a:xfrm>
          <a:prstGeom prst="rect">
            <a:avLst/>
          </a:prstGeom>
          <a:solidFill>
            <a:srgbClr val="D4541A"/>
          </a:solidFill>
          <a:ln w="12700">
            <a:solidFill>
              <a:srgbClr val="D454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30352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Fazit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6400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D4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drei Kernzahlen der Analyse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84048" y="868680"/>
            <a:ext cx="8375904" cy="18288"/>
          </a:xfrm>
          <a:prstGeom prst="rect">
            <a:avLst/>
          </a:prstGeom>
          <a:solidFill>
            <a:srgbClr val="EDE9E3"/>
          </a:solidFill>
          <a:ln w="12700">
            <a:solidFill>
              <a:srgbClr val="EDE9E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384048" y="1005840"/>
            <a:ext cx="2798064" cy="1170432"/>
          </a:xfrm>
          <a:prstGeom prst="roundRect">
            <a:avLst>
              <a:gd name="adj" fmla="val 7031"/>
            </a:avLst>
          </a:prstGeom>
          <a:solidFill>
            <a:srgbClr val="B83225"/>
          </a:solidFill>
          <a:ln w="6350">
            <a:solidFill>
              <a:srgbClr val="EDE9E3"/>
            </a:solidFill>
            <a:prstDash val="solid"/>
          </a:ln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457200" y="1042416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247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160934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28416" y="1005840"/>
            <a:ext cx="2798064" cy="1170432"/>
          </a:xfrm>
          <a:prstGeom prst="roundRect">
            <a:avLst>
              <a:gd name="adj" fmla="val 7031"/>
            </a:avLst>
          </a:prstGeom>
          <a:solidFill>
            <a:srgbClr val="B86A00"/>
          </a:solidFill>
          <a:ln w="6350">
            <a:solidFill>
              <a:srgbClr val="EDE9E3"/>
            </a:solidFill>
            <a:prstDash val="solid"/>
          </a:ln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3401568" y="1042416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148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401568" y="170840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 err="1">
                <a:solidFill>
                  <a:srgbClr val="D8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Kredite</a:t>
            </a:r>
            <a:r>
              <a:rPr lang="en-US" sz="900" dirty="0">
                <a:solidFill>
                  <a:srgbClr val="D8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Grade A/B. </a:t>
            </a:r>
            <a:r>
              <a:rPr lang="en-US" sz="900" dirty="0" err="1">
                <a:solidFill>
                  <a:srgbClr val="D8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Trotzdem</a:t>
            </a:r>
            <a:r>
              <a:rPr lang="en-US" sz="900" dirty="0">
                <a:solidFill>
                  <a:srgbClr val="D8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70% </a:t>
            </a:r>
            <a:r>
              <a:rPr lang="en-US" sz="900" dirty="0" err="1">
                <a:solidFill>
                  <a:srgbClr val="D8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Ausfallquote</a:t>
            </a:r>
            <a:r>
              <a:rPr lang="en-US" sz="900" dirty="0">
                <a:solidFill>
                  <a:srgbClr val="D8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der Loan Grade </a:t>
            </a:r>
            <a:r>
              <a:rPr lang="en-US" sz="900" dirty="0" err="1">
                <a:solidFill>
                  <a:srgbClr val="D8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allein</a:t>
            </a:r>
            <a:r>
              <a:rPr lang="en-US" sz="900" dirty="0">
                <a:solidFill>
                  <a:srgbClr val="D8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 dirty="0" err="1">
                <a:solidFill>
                  <a:srgbClr val="D8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reicht</a:t>
            </a:r>
            <a:r>
              <a:rPr lang="en-US" sz="900" dirty="0">
                <a:solidFill>
                  <a:srgbClr val="D8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nicht </a:t>
            </a:r>
            <a:r>
              <a:rPr lang="en-US" sz="900" dirty="0" err="1">
                <a:solidFill>
                  <a:srgbClr val="D8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</a:t>
            </a:r>
            <a:r>
              <a:rPr lang="en-US" sz="900" dirty="0">
                <a:solidFill>
                  <a:srgbClr val="D8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 dirty="0" err="1">
                <a:solidFill>
                  <a:srgbClr val="D8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Entscheidungsgrundlage</a:t>
            </a:r>
            <a:endParaRPr lang="en-US" sz="900" dirty="0"/>
          </a:p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72784" y="1005840"/>
            <a:ext cx="2798064" cy="1170432"/>
          </a:xfrm>
          <a:prstGeom prst="roundRect">
            <a:avLst>
              <a:gd name="adj" fmla="val 7031"/>
            </a:avLst>
          </a:prstGeom>
          <a:solidFill>
            <a:srgbClr val="1E2761"/>
          </a:solidFill>
          <a:ln w="6350">
            <a:solidFill>
              <a:srgbClr val="EDE9E3"/>
            </a:solidFill>
            <a:prstDash val="solid"/>
          </a:ln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6345936" y="1042416"/>
            <a:ext cx="2651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4.894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6345936" y="164744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dirty="0" err="1">
                <a:solidFill>
                  <a:srgbClr val="D8E4E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Kredite</a:t>
            </a:r>
            <a:r>
              <a:rPr lang="en-US" sz="900" dirty="0">
                <a:solidFill>
                  <a:srgbClr val="D8E4E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in den </a:t>
            </a:r>
            <a:r>
              <a:rPr lang="en-US" sz="900" dirty="0" err="1">
                <a:solidFill>
                  <a:srgbClr val="D8E4E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riskantesten</a:t>
            </a:r>
            <a:r>
              <a:rPr lang="en-US" sz="900" dirty="0">
                <a:solidFill>
                  <a:srgbClr val="D8E4E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Klassen D–G </a:t>
            </a:r>
            <a:r>
              <a:rPr lang="en-US" sz="900" dirty="0" err="1">
                <a:solidFill>
                  <a:srgbClr val="D8E4E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vergeben</a:t>
            </a:r>
            <a:r>
              <a:rPr lang="en-US" sz="900" dirty="0">
                <a:solidFill>
                  <a:srgbClr val="D8E4E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. </a:t>
            </a:r>
            <a:r>
              <a:rPr lang="en-US" sz="900" dirty="0" err="1">
                <a:solidFill>
                  <a:srgbClr val="D8E4E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Jeder</a:t>
            </a:r>
            <a:r>
              <a:rPr lang="en-US" sz="900" dirty="0">
                <a:solidFill>
                  <a:srgbClr val="D8E4E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2. </a:t>
            </a:r>
            <a:r>
              <a:rPr lang="en-US" sz="900" dirty="0" err="1">
                <a:solidFill>
                  <a:srgbClr val="D8E4E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Kredit</a:t>
            </a:r>
            <a:r>
              <a:rPr lang="en-US" sz="900" dirty="0">
                <a:solidFill>
                  <a:srgbClr val="D8E4E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sz="900" dirty="0" err="1">
                <a:solidFill>
                  <a:srgbClr val="D8E4E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fällt</a:t>
            </a:r>
            <a:r>
              <a:rPr lang="en-US" sz="900" dirty="0">
                <a:solidFill>
                  <a:srgbClr val="D8E4E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sz="900" dirty="0" err="1">
                <a:solidFill>
                  <a:srgbClr val="D8E4E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aus.</a:t>
            </a:r>
            <a:r>
              <a:rPr lang="en-US" sz="900" dirty="0">
                <a:solidFill>
                  <a:srgbClr val="D8E4E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Das Risiko war </a:t>
            </a:r>
            <a:r>
              <a:rPr lang="en-US" sz="900" dirty="0" err="1">
                <a:solidFill>
                  <a:srgbClr val="D8E4E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bekannt</a:t>
            </a:r>
            <a:r>
              <a:rPr lang="en-US" sz="900" dirty="0">
                <a:solidFill>
                  <a:srgbClr val="D8E4E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.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84048" y="2340864"/>
            <a:ext cx="8686800" cy="2432304"/>
          </a:xfrm>
          <a:prstGeom prst="roundRect">
            <a:avLst>
              <a:gd name="adj" fmla="val 3358"/>
            </a:avLst>
          </a:prstGeom>
          <a:solidFill>
            <a:srgbClr val="1E2761"/>
          </a:solidFill>
          <a:ln w="6350">
            <a:solidFill>
              <a:srgbClr val="EDE9E3"/>
            </a:solidFill>
            <a:prstDash val="solid"/>
          </a:ln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566928" y="2432304"/>
            <a:ext cx="8010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5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Empfehlung für den Vorstand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" y="2798064"/>
            <a:ext cx="8010144" cy="18288"/>
          </a:xfrm>
          <a:prstGeom prst="rect">
            <a:avLst/>
          </a:prstGeom>
          <a:solidFill>
            <a:srgbClr val="2A3A5A"/>
          </a:solidFill>
          <a:ln w="12700">
            <a:solidFill>
              <a:srgbClr val="2A3A5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621792" y="2871216"/>
            <a:ext cx="79004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Das Modell ermöglicht eine strukturierte Bewertung des Ausfallrisikos und macht auffällige Kreditnehmer frühzeitig sichtbar.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" y="3438144"/>
            <a:ext cx="79004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Es unterstützt insbesondere die Überwachung von Kreditnehmern mit hoher Einkommensbelastung und schwacher Bonität.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" y="4005072"/>
            <a:ext cx="79004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Genau diese Gruppen haben in der Analyse die höchsten Ausfallquoten gezeigt — sie sind die größten Risikotreiber im Portfolio.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0" y="486460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15</a:t>
            </a:r>
            <a:endParaRPr lang="en-US" sz="900" dirty="0"/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14F04C96-DF7D-4E06-0456-3B71EA1D55A1}"/>
              </a:ext>
            </a:extLst>
          </p:cNvPr>
          <p:cNvSpPr/>
          <p:nvPr/>
        </p:nvSpPr>
        <p:spPr>
          <a:xfrm>
            <a:off x="434340" y="162763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8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Kredite &gt;50 % </a:t>
            </a:r>
            <a:r>
              <a:rPr lang="en-US" sz="900" dirty="0" err="1">
                <a:solidFill>
                  <a:srgbClr val="D8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Einkommensanteil</a:t>
            </a:r>
            <a:r>
              <a:rPr lang="en-US" sz="900" dirty="0">
                <a:solidFill>
                  <a:srgbClr val="D8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900" dirty="0" err="1">
                <a:solidFill>
                  <a:srgbClr val="D8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Finanzielle</a:t>
            </a:r>
            <a:r>
              <a:rPr lang="en-US" sz="900" dirty="0">
                <a:solidFill>
                  <a:srgbClr val="D8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 dirty="0" err="1">
                <a:solidFill>
                  <a:srgbClr val="D8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Belastung</a:t>
            </a:r>
            <a:r>
              <a:rPr lang="en-US" sz="900" dirty="0">
                <a:solidFill>
                  <a:srgbClr val="D8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von Anfang an </a:t>
            </a:r>
            <a:r>
              <a:rPr lang="en-US" sz="900" dirty="0" err="1">
                <a:solidFill>
                  <a:srgbClr val="D8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</a:t>
            </a:r>
            <a:r>
              <a:rPr lang="en-US" sz="900" dirty="0">
                <a:solidFill>
                  <a:srgbClr val="D8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 dirty="0" err="1">
                <a:solidFill>
                  <a:srgbClr val="D8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hoch</a:t>
            </a:r>
            <a:r>
              <a:rPr lang="en-US" sz="900" dirty="0">
                <a:solidFill>
                  <a:srgbClr val="D8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8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Warnsignale </a:t>
            </a:r>
            <a:r>
              <a:rPr lang="en-US" sz="900" dirty="0" err="1">
                <a:solidFill>
                  <a:srgbClr val="D8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lagen</a:t>
            </a:r>
            <a:r>
              <a:rPr lang="en-US" sz="900" dirty="0">
                <a:solidFill>
                  <a:srgbClr val="D8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 dirty="0" err="1">
                <a:solidFill>
                  <a:srgbClr val="D8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</a:t>
            </a:r>
            <a:r>
              <a:rPr lang="en-US" sz="900" dirty="0">
                <a:solidFill>
                  <a:srgbClr val="D8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und </a:t>
            </a:r>
            <a:r>
              <a:rPr lang="en-US" sz="900" dirty="0" err="1">
                <a:solidFill>
                  <a:srgbClr val="D8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wurden</a:t>
            </a:r>
            <a:r>
              <a:rPr lang="en-US" sz="900" dirty="0">
                <a:solidFill>
                  <a:srgbClr val="D8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nicht </a:t>
            </a:r>
            <a:r>
              <a:rPr lang="en-US" sz="900" dirty="0" err="1">
                <a:solidFill>
                  <a:srgbClr val="D8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genutzt</a:t>
            </a:r>
            <a:r>
              <a:rPr lang="en-US" sz="900" dirty="0">
                <a:solidFill>
                  <a:srgbClr val="D8E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164592"/>
            <a:ext cx="50292" cy="658368"/>
          </a:xfrm>
          <a:prstGeom prst="rect">
            <a:avLst/>
          </a:prstGeom>
          <a:solidFill>
            <a:srgbClr val="D4541A"/>
          </a:solidFill>
          <a:ln w="12700">
            <a:solidFill>
              <a:srgbClr val="D454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530352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Handlungsempfehlungen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6400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D454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Konkrete Maßnahmen für Kreditvergabe und Datenqualität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84048" y="868680"/>
            <a:ext cx="8375904" cy="18288"/>
          </a:xfrm>
          <a:prstGeom prst="rect">
            <a:avLst/>
          </a:prstGeom>
          <a:solidFill>
            <a:srgbClr val="EDE9E3"/>
          </a:solidFill>
          <a:ln w="12700">
            <a:solidFill>
              <a:srgbClr val="EDE9E3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384048" y="1005840"/>
            <a:ext cx="4160520" cy="3639312"/>
          </a:xfrm>
          <a:prstGeom prst="roundRect">
            <a:avLst>
              <a:gd name="adj" fmla="val 2261"/>
            </a:avLst>
          </a:prstGeom>
          <a:solidFill>
            <a:srgbClr val="FFFFFF"/>
          </a:solidFill>
          <a:ln w="6350">
            <a:solidFill>
              <a:srgbClr val="EDE9E3"/>
            </a:solidFill>
            <a:prstDash val="solid"/>
          </a:ln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384048" y="1005840"/>
            <a:ext cx="4160520" cy="42062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566928" y="1060704"/>
            <a:ext cx="3794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Kreditvergabe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1536192"/>
            <a:ext cx="3913632" cy="822960"/>
          </a:xfrm>
          <a:prstGeom prst="roundRect">
            <a:avLst>
              <a:gd name="adj" fmla="val 10000"/>
            </a:avLst>
          </a:prstGeom>
          <a:solidFill>
            <a:srgbClr val="F5F1EB"/>
          </a:solidFill>
          <a:ln w="6350">
            <a:solidFill>
              <a:srgbClr val="EDE9E3"/>
            </a:solidFill>
            <a:prstDash val="solid"/>
          </a:ln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621792" y="1591056"/>
            <a:ext cx="3675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Einkommensbelastung stärker berücksichtigen — Grenzwert 50 % als Pflichtprüfung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505456"/>
            <a:ext cx="3913632" cy="822960"/>
          </a:xfrm>
          <a:prstGeom prst="roundRect">
            <a:avLst>
              <a:gd name="adj" fmla="val 10000"/>
            </a:avLst>
          </a:prstGeom>
          <a:solidFill>
            <a:srgbClr val="F5F1EB"/>
          </a:solidFill>
          <a:ln w="6350">
            <a:solidFill>
              <a:srgbClr val="EDE9E3"/>
            </a:solidFill>
            <a:prstDash val="solid"/>
          </a:ln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621792" y="2560320"/>
            <a:ext cx="3675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Kreditvergabe für Grade D–G restriktiver gestalten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474720"/>
            <a:ext cx="3913632" cy="822960"/>
          </a:xfrm>
          <a:prstGeom prst="roundRect">
            <a:avLst>
              <a:gd name="adj" fmla="val 10000"/>
            </a:avLst>
          </a:prstGeom>
          <a:solidFill>
            <a:srgbClr val="F5F1EB"/>
          </a:solidFill>
          <a:ln w="6350">
            <a:solidFill>
              <a:srgbClr val="EDE9E3"/>
            </a:solidFill>
            <a:prstDash val="solid"/>
          </a:ln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621792" y="3529584"/>
            <a:ext cx="36758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Wohnsituation und Kreditzweck stärker gewichten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81728" y="1005840"/>
            <a:ext cx="4078224" cy="3639312"/>
          </a:xfrm>
          <a:prstGeom prst="roundRect">
            <a:avLst>
              <a:gd name="adj" fmla="val 2261"/>
            </a:avLst>
          </a:prstGeom>
          <a:solidFill>
            <a:srgbClr val="FFFFFF"/>
          </a:solidFill>
          <a:ln w="6350">
            <a:solidFill>
              <a:srgbClr val="EDE9E3"/>
            </a:solidFill>
            <a:prstDash val="solid"/>
          </a:ln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4681728" y="1005840"/>
            <a:ext cx="4078224" cy="420624"/>
          </a:xfrm>
          <a:prstGeom prst="rect">
            <a:avLst/>
          </a:prstGeom>
          <a:solidFill>
            <a:srgbClr val="D4541A"/>
          </a:solidFill>
          <a:ln w="12700">
            <a:solidFill>
              <a:srgbClr val="D4541A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4846320" y="106070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Datenqualität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800600" y="1536192"/>
            <a:ext cx="3840480" cy="822960"/>
          </a:xfrm>
          <a:prstGeom prst="roundRect">
            <a:avLst>
              <a:gd name="adj" fmla="val 10000"/>
            </a:avLst>
          </a:prstGeom>
          <a:solidFill>
            <a:srgbClr val="F5F1EB"/>
          </a:solidFill>
          <a:ln w="6350">
            <a:solidFill>
              <a:srgbClr val="EDE9E3"/>
            </a:solidFill>
            <a:prstDash val="solid"/>
          </a:ln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4919472" y="1591056"/>
            <a:ext cx="36027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Zinssatz und Kreditlaufzeit verpflichtend erfassen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00600" y="2505456"/>
            <a:ext cx="3840480" cy="822960"/>
          </a:xfrm>
          <a:prstGeom prst="roundRect">
            <a:avLst>
              <a:gd name="adj" fmla="val 10000"/>
            </a:avLst>
          </a:prstGeom>
          <a:solidFill>
            <a:srgbClr val="F5F1EB"/>
          </a:solidFill>
          <a:ln w="6350">
            <a:solidFill>
              <a:srgbClr val="EDE9E3"/>
            </a:solidFill>
            <a:prstDash val="solid"/>
          </a:ln>
          <a:effectLst>
            <a:outerShdw blurRad="63500" dist="25400" dir="27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4919472" y="2560320"/>
            <a:ext cx="36027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Plausibilitätsprüfungen für Alter und Beschäftigungsdauer automatisieren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84048" y="4736592"/>
            <a:ext cx="8375904" cy="347472"/>
          </a:xfrm>
          <a:prstGeom prst="roundRect">
            <a:avLst>
              <a:gd name="adj" fmla="val 1842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4791456"/>
            <a:ext cx="237744" cy="237744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859536" y="476402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Risikosteuerung: Klassifizierungsmodell als Monitoring-Werkzeug einsetzen  ·  Hochrisikogruppe (61,68 % Ausfallquote) quartalsweise überprüfen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229600" y="486460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871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1505</Words>
  <Application>Microsoft Macintosh PowerPoint</Application>
  <PresentationFormat>Bildschirmpräsentation (16:9)</PresentationFormat>
  <Paragraphs>349</Paragraphs>
  <Slides>16</Slides>
  <Notes>16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16</vt:i4>
      </vt:variant>
    </vt:vector>
  </HeadingPairs>
  <TitlesOfParts>
    <vt:vector size="19" baseType="lpstr">
      <vt:lpstr>Arial</vt:lpstr>
      <vt:lpstr>Cambria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Kreditrisikoanalyse</dc:title>
  <dc:subject>PptxGenJS Presentation</dc:subject>
  <dc:creator>PptxGenJS</dc:creator>
  <cp:lastModifiedBy>Thorsten Schwarck</cp:lastModifiedBy>
  <cp:revision>106</cp:revision>
  <dcterms:created xsi:type="dcterms:W3CDTF">2026-06-22T14:18:14Z</dcterms:created>
  <dcterms:modified xsi:type="dcterms:W3CDTF">2026-07-19T13:38:16Z</dcterms:modified>
</cp:coreProperties>
</file>